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097280"/>
          </a:xfrm>
          <a:custGeom>
            <a:avLst/>
            <a:gdLst/>
            <a:ahLst/>
            <a:cxnLst/>
            <a:rect l="l" t="t" r="r" b="b"/>
            <a:pathLst>
              <a:path w="12192000" h="1097280">
                <a:moveTo>
                  <a:pt x="12192000" y="0"/>
                </a:moveTo>
                <a:lnTo>
                  <a:pt x="0" y="0"/>
                </a:lnTo>
                <a:lnTo>
                  <a:pt x="0" y="1097279"/>
                </a:lnTo>
                <a:lnTo>
                  <a:pt x="12192000" y="109727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8073" y="239268"/>
            <a:ext cx="925766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4841" y="2891028"/>
            <a:ext cx="11382317" cy="261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849410" y="6438064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183302" y="6441620"/>
            <a:ext cx="77470" cy="1860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85"/>
              </a:lnSpc>
            </a:pPr>
            <a:r>
              <a:rPr dirty="0" sz="1200" spc="-6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2191" y="-6350"/>
            <a:ext cx="12179935" cy="6870700"/>
            <a:chOff x="12191" y="-6350"/>
            <a:chExt cx="12179935" cy="68707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1" y="0"/>
              <a:ext cx="8104632" cy="685799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194846" y="0"/>
              <a:ext cx="6997700" cy="6858000"/>
            </a:xfrm>
            <a:custGeom>
              <a:avLst/>
              <a:gdLst/>
              <a:ahLst/>
              <a:cxnLst/>
              <a:rect l="l" t="t" r="r" b="b"/>
              <a:pathLst>
                <a:path w="6997700" h="6858000">
                  <a:moveTo>
                    <a:pt x="2915475" y="0"/>
                  </a:moveTo>
                  <a:lnTo>
                    <a:pt x="0" y="6858000"/>
                  </a:lnTo>
                  <a:lnTo>
                    <a:pt x="2915475" y="6858000"/>
                  </a:lnTo>
                  <a:lnTo>
                    <a:pt x="2915475" y="0"/>
                  </a:lnTo>
                  <a:close/>
                </a:path>
                <a:path w="6997700" h="6858000">
                  <a:moveTo>
                    <a:pt x="6997154" y="0"/>
                  </a:moveTo>
                  <a:lnTo>
                    <a:pt x="2921952" y="0"/>
                  </a:lnTo>
                  <a:lnTo>
                    <a:pt x="2921952" y="6858000"/>
                  </a:lnTo>
                  <a:lnTo>
                    <a:pt x="6997154" y="6858000"/>
                  </a:lnTo>
                  <a:lnTo>
                    <a:pt x="6997154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194852" y="0"/>
              <a:ext cx="2915920" cy="6858000"/>
            </a:xfrm>
            <a:custGeom>
              <a:avLst/>
              <a:gdLst/>
              <a:ahLst/>
              <a:cxnLst/>
              <a:rect l="l" t="t" r="r" b="b"/>
              <a:pathLst>
                <a:path w="2915920" h="6858000">
                  <a:moveTo>
                    <a:pt x="2915477" y="6858000"/>
                  </a:moveTo>
                  <a:lnTo>
                    <a:pt x="2915477" y="0"/>
                  </a:lnTo>
                  <a:lnTo>
                    <a:pt x="0" y="6858000"/>
                  </a:lnTo>
                  <a:lnTo>
                    <a:pt x="2915477" y="6858000"/>
                  </a:lnTo>
                  <a:close/>
                </a:path>
              </a:pathLst>
            </a:custGeom>
            <a:ln w="127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989265" y="2418588"/>
            <a:ext cx="3780154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/>
              <a:t>Customer</a:t>
            </a:r>
            <a:r>
              <a:rPr dirty="0" sz="4400" spc="-130"/>
              <a:t> </a:t>
            </a:r>
            <a:r>
              <a:rPr dirty="0" sz="4400" spc="-10"/>
              <a:t>Churn</a:t>
            </a:r>
            <a:endParaRPr sz="4400"/>
          </a:p>
        </p:txBody>
      </p:sp>
      <p:sp>
        <p:nvSpPr>
          <p:cNvPr id="8" name="object 8" descr=""/>
          <p:cNvSpPr txBox="1"/>
          <p:nvPr/>
        </p:nvSpPr>
        <p:spPr>
          <a:xfrm>
            <a:off x="8846262" y="3092196"/>
            <a:ext cx="2922905" cy="13696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539115" marR="5080" indent="-527050">
              <a:lnSpc>
                <a:spcPct val="100499"/>
              </a:lnSpc>
              <a:spcBef>
                <a:spcPts val="70"/>
              </a:spcBef>
            </a:pPr>
            <a:r>
              <a:rPr dirty="0" sz="4400" b="1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dirty="0" sz="44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400" spc="-25" b="1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Prediction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116580" y="5000244"/>
            <a:ext cx="165227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222885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William</a:t>
            </a:r>
            <a:r>
              <a:rPr dirty="0" sz="20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Chen </a:t>
            </a: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Margaret</a:t>
            </a:r>
            <a:r>
              <a:rPr dirty="0" sz="20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FFFFFF"/>
                </a:solidFill>
                <a:latin typeface="Calibri"/>
                <a:cs typeface="Calibri"/>
              </a:rPr>
              <a:t>Ji 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Catherine</a:t>
            </a:r>
            <a:r>
              <a:rPr dirty="0" sz="2000" spc="-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Ruan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434470" y="4784035"/>
            <a:ext cx="4758055" cy="0"/>
          </a:xfrm>
          <a:custGeom>
            <a:avLst/>
            <a:gdLst/>
            <a:ahLst/>
            <a:cxnLst/>
            <a:rect l="l" t="t" r="r" b="b"/>
            <a:pathLst>
              <a:path w="4758055" h="0">
                <a:moveTo>
                  <a:pt x="4757530" y="0"/>
                </a:moveTo>
                <a:lnTo>
                  <a:pt x="0" y="1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Overview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75046" y="1409217"/>
            <a:ext cx="1985010" cy="1125855"/>
            <a:chOff x="375046" y="1409217"/>
            <a:chExt cx="1985010" cy="1125855"/>
          </a:xfrm>
        </p:grpSpPr>
        <p:sp>
          <p:nvSpPr>
            <p:cNvPr id="4" name="object 4" descr=""/>
            <p:cNvSpPr/>
            <p:nvPr/>
          </p:nvSpPr>
          <p:spPr>
            <a:xfrm>
              <a:off x="389333" y="1423504"/>
              <a:ext cx="1956435" cy="1097280"/>
            </a:xfrm>
            <a:custGeom>
              <a:avLst/>
              <a:gdLst/>
              <a:ahLst/>
              <a:cxnLst/>
              <a:rect l="l" t="t" r="r" b="b"/>
              <a:pathLst>
                <a:path w="1956435" h="1097280">
                  <a:moveTo>
                    <a:pt x="1956301" y="0"/>
                  </a:moveTo>
                  <a:lnTo>
                    <a:pt x="0" y="0"/>
                  </a:lnTo>
                  <a:lnTo>
                    <a:pt x="0" y="1097280"/>
                  </a:lnTo>
                  <a:lnTo>
                    <a:pt x="1956301" y="1097280"/>
                  </a:lnTo>
                  <a:lnTo>
                    <a:pt x="1956301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9333" y="1423504"/>
              <a:ext cx="1956435" cy="1097280"/>
            </a:xfrm>
            <a:custGeom>
              <a:avLst/>
              <a:gdLst/>
              <a:ahLst/>
              <a:cxnLst/>
              <a:rect l="l" t="t" r="r" b="b"/>
              <a:pathLst>
                <a:path w="1956435" h="1097280">
                  <a:moveTo>
                    <a:pt x="0" y="0"/>
                  </a:moveTo>
                  <a:lnTo>
                    <a:pt x="1956301" y="0"/>
                  </a:lnTo>
                  <a:lnTo>
                    <a:pt x="1956301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11090" y="1752091"/>
            <a:ext cx="7131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Goals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344353" y="1423504"/>
            <a:ext cx="9457055" cy="1097280"/>
          </a:xfrm>
          <a:custGeom>
            <a:avLst/>
            <a:gdLst/>
            <a:ahLst/>
            <a:cxnLst/>
            <a:rect l="l" t="t" r="r" b="b"/>
            <a:pathLst>
              <a:path w="9457055" h="1097280">
                <a:moveTo>
                  <a:pt x="0" y="0"/>
                </a:moveTo>
                <a:lnTo>
                  <a:pt x="9457030" y="0"/>
                </a:lnTo>
                <a:lnTo>
                  <a:pt x="945703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1F4E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423093" y="1488947"/>
            <a:ext cx="483997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consumer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dataset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to: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Segment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Fulton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Bank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base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Build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predicts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churn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62137" y="2719208"/>
            <a:ext cx="11458575" cy="668655"/>
            <a:chOff x="362137" y="2719208"/>
            <a:chExt cx="11458575" cy="668655"/>
          </a:xfrm>
        </p:grpSpPr>
        <p:sp>
          <p:nvSpPr>
            <p:cNvPr id="10" name="object 10" descr=""/>
            <p:cNvSpPr/>
            <p:nvPr/>
          </p:nvSpPr>
          <p:spPr>
            <a:xfrm>
              <a:off x="376424" y="2733495"/>
              <a:ext cx="11430000" cy="640080"/>
            </a:xfrm>
            <a:custGeom>
              <a:avLst/>
              <a:gdLst/>
              <a:ahLst/>
              <a:cxnLst/>
              <a:rect l="l" t="t" r="r" b="b"/>
              <a:pathLst>
                <a:path w="11430000" h="640079">
                  <a:moveTo>
                    <a:pt x="11429999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11429999" y="640079"/>
                  </a:lnTo>
                  <a:lnTo>
                    <a:pt x="1142999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6424" y="2733495"/>
              <a:ext cx="11430000" cy="640080"/>
            </a:xfrm>
            <a:custGeom>
              <a:avLst/>
              <a:gdLst/>
              <a:ahLst/>
              <a:cxnLst/>
              <a:rect l="l" t="t" r="r" b="b"/>
              <a:pathLst>
                <a:path w="11430000" h="640079">
                  <a:moveTo>
                    <a:pt x="0" y="0"/>
                  </a:moveTo>
                  <a:lnTo>
                    <a:pt x="11430000" y="0"/>
                  </a:lnTo>
                  <a:lnTo>
                    <a:pt x="1143000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688453" y="2875788"/>
            <a:ext cx="8058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Agenda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82179" y="3494230"/>
            <a:ext cx="10544175" cy="668655"/>
            <a:chOff x="1282179" y="3494230"/>
            <a:chExt cx="10544175" cy="668655"/>
          </a:xfrm>
        </p:grpSpPr>
        <p:sp>
          <p:nvSpPr>
            <p:cNvPr id="14" name="object 14" descr=""/>
            <p:cNvSpPr/>
            <p:nvPr/>
          </p:nvSpPr>
          <p:spPr>
            <a:xfrm>
              <a:off x="1296466" y="3508518"/>
              <a:ext cx="10515600" cy="640080"/>
            </a:xfrm>
            <a:custGeom>
              <a:avLst/>
              <a:gdLst/>
              <a:ahLst/>
              <a:cxnLst/>
              <a:rect l="l" t="t" r="r" b="b"/>
              <a:pathLst>
                <a:path w="10515600" h="640079">
                  <a:moveTo>
                    <a:pt x="10515600" y="0"/>
                  </a:moveTo>
                  <a:lnTo>
                    <a:pt x="0" y="0"/>
                  </a:lnTo>
                  <a:lnTo>
                    <a:pt x="0" y="640080"/>
                  </a:lnTo>
                  <a:lnTo>
                    <a:pt x="10515600" y="640080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96466" y="3508518"/>
              <a:ext cx="10515600" cy="640080"/>
            </a:xfrm>
            <a:custGeom>
              <a:avLst/>
              <a:gdLst/>
              <a:ahLst/>
              <a:cxnLst/>
              <a:rect l="l" t="t" r="r" b="b"/>
              <a:pathLst>
                <a:path w="10515600" h="640079">
                  <a:moveTo>
                    <a:pt x="0" y="0"/>
                  </a:moveTo>
                  <a:lnTo>
                    <a:pt x="10515600" y="0"/>
                  </a:lnTo>
                  <a:lnTo>
                    <a:pt x="1051560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724004" y="3649979"/>
            <a:ext cx="16617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282179" y="4254941"/>
            <a:ext cx="10544175" cy="668655"/>
            <a:chOff x="1282179" y="4254941"/>
            <a:chExt cx="10544175" cy="668655"/>
          </a:xfrm>
        </p:grpSpPr>
        <p:sp>
          <p:nvSpPr>
            <p:cNvPr id="18" name="object 18" descr=""/>
            <p:cNvSpPr/>
            <p:nvPr/>
          </p:nvSpPr>
          <p:spPr>
            <a:xfrm>
              <a:off x="1296466" y="4269229"/>
              <a:ext cx="10515600" cy="640080"/>
            </a:xfrm>
            <a:custGeom>
              <a:avLst/>
              <a:gdLst/>
              <a:ahLst/>
              <a:cxnLst/>
              <a:rect l="l" t="t" r="r" b="b"/>
              <a:pathLst>
                <a:path w="10515600" h="640079">
                  <a:moveTo>
                    <a:pt x="1051560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10515600" y="640079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296466" y="4269229"/>
              <a:ext cx="10515600" cy="640080"/>
            </a:xfrm>
            <a:custGeom>
              <a:avLst/>
              <a:gdLst/>
              <a:ahLst/>
              <a:cxnLst/>
              <a:rect l="l" t="t" r="r" b="b"/>
              <a:pathLst>
                <a:path w="10515600" h="640079">
                  <a:moveTo>
                    <a:pt x="0" y="0"/>
                  </a:moveTo>
                  <a:lnTo>
                    <a:pt x="10515600" y="0"/>
                  </a:lnTo>
                  <a:lnTo>
                    <a:pt x="1051560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301951" y="4411979"/>
            <a:ext cx="25050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segmentation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282179" y="5015654"/>
            <a:ext cx="10544175" cy="668655"/>
            <a:chOff x="1282179" y="5015654"/>
            <a:chExt cx="10544175" cy="668655"/>
          </a:xfrm>
        </p:grpSpPr>
        <p:sp>
          <p:nvSpPr>
            <p:cNvPr id="22" name="object 22" descr=""/>
            <p:cNvSpPr/>
            <p:nvPr/>
          </p:nvSpPr>
          <p:spPr>
            <a:xfrm>
              <a:off x="1296466" y="5029941"/>
              <a:ext cx="10515600" cy="640080"/>
            </a:xfrm>
            <a:custGeom>
              <a:avLst/>
              <a:gdLst/>
              <a:ahLst/>
              <a:cxnLst/>
              <a:rect l="l" t="t" r="r" b="b"/>
              <a:pathLst>
                <a:path w="10515600" h="640079">
                  <a:moveTo>
                    <a:pt x="1051560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10515600" y="640079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96466" y="5029941"/>
              <a:ext cx="10515600" cy="640080"/>
            </a:xfrm>
            <a:custGeom>
              <a:avLst/>
              <a:gdLst/>
              <a:ahLst/>
              <a:cxnLst/>
              <a:rect l="l" t="t" r="r" b="b"/>
              <a:pathLst>
                <a:path w="10515600" h="640079">
                  <a:moveTo>
                    <a:pt x="0" y="0"/>
                  </a:moveTo>
                  <a:lnTo>
                    <a:pt x="10515600" y="0"/>
                  </a:lnTo>
                  <a:lnTo>
                    <a:pt x="1051560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768109" y="5170932"/>
            <a:ext cx="55733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Feature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scoring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predictive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implementation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282179" y="5776364"/>
            <a:ext cx="10544175" cy="668655"/>
            <a:chOff x="1282179" y="5776364"/>
            <a:chExt cx="10544175" cy="668655"/>
          </a:xfrm>
        </p:grpSpPr>
        <p:sp>
          <p:nvSpPr>
            <p:cNvPr id="26" name="object 26" descr=""/>
            <p:cNvSpPr/>
            <p:nvPr/>
          </p:nvSpPr>
          <p:spPr>
            <a:xfrm>
              <a:off x="1296466" y="5790651"/>
              <a:ext cx="10515600" cy="640080"/>
            </a:xfrm>
            <a:custGeom>
              <a:avLst/>
              <a:gdLst/>
              <a:ahLst/>
              <a:cxnLst/>
              <a:rect l="l" t="t" r="r" b="b"/>
              <a:pathLst>
                <a:path w="10515600" h="640079">
                  <a:moveTo>
                    <a:pt x="1051560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10515600" y="640079"/>
                  </a:lnTo>
                  <a:lnTo>
                    <a:pt x="1051560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296466" y="5790651"/>
              <a:ext cx="10515600" cy="640080"/>
            </a:xfrm>
            <a:custGeom>
              <a:avLst/>
              <a:gdLst/>
              <a:ahLst/>
              <a:cxnLst/>
              <a:rect l="l" t="t" r="r" b="b"/>
              <a:pathLst>
                <a:path w="10515600" h="640079">
                  <a:moveTo>
                    <a:pt x="0" y="0"/>
                  </a:moveTo>
                  <a:lnTo>
                    <a:pt x="10515600" y="0"/>
                  </a:lnTo>
                  <a:lnTo>
                    <a:pt x="1051560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5126247" y="5932932"/>
            <a:ext cx="28562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Business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recommendations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62137" y="3496160"/>
            <a:ext cx="767715" cy="668655"/>
            <a:chOff x="362137" y="3496160"/>
            <a:chExt cx="767715" cy="668655"/>
          </a:xfrm>
        </p:grpSpPr>
        <p:sp>
          <p:nvSpPr>
            <p:cNvPr id="30" name="object 30" descr=""/>
            <p:cNvSpPr/>
            <p:nvPr/>
          </p:nvSpPr>
          <p:spPr>
            <a:xfrm>
              <a:off x="376424" y="3510447"/>
              <a:ext cx="739140" cy="640080"/>
            </a:xfrm>
            <a:custGeom>
              <a:avLst/>
              <a:gdLst/>
              <a:ahLst/>
              <a:cxnLst/>
              <a:rect l="l" t="t" r="r" b="b"/>
              <a:pathLst>
                <a:path w="739140" h="640079">
                  <a:moveTo>
                    <a:pt x="73875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738750" y="640079"/>
                  </a:lnTo>
                  <a:lnTo>
                    <a:pt x="73875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76424" y="3510447"/>
              <a:ext cx="739140" cy="640080"/>
            </a:xfrm>
            <a:custGeom>
              <a:avLst/>
              <a:gdLst/>
              <a:ahLst/>
              <a:cxnLst/>
              <a:rect l="l" t="t" r="r" b="b"/>
              <a:pathLst>
                <a:path w="739140" h="640079">
                  <a:moveTo>
                    <a:pt x="0" y="0"/>
                  </a:moveTo>
                  <a:lnTo>
                    <a:pt x="738751" y="0"/>
                  </a:lnTo>
                  <a:lnTo>
                    <a:pt x="738751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68806" y="3653028"/>
            <a:ext cx="1543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362137" y="4262016"/>
            <a:ext cx="767715" cy="668655"/>
            <a:chOff x="362137" y="4262016"/>
            <a:chExt cx="767715" cy="668655"/>
          </a:xfrm>
        </p:grpSpPr>
        <p:sp>
          <p:nvSpPr>
            <p:cNvPr id="34" name="object 34" descr=""/>
            <p:cNvSpPr/>
            <p:nvPr/>
          </p:nvSpPr>
          <p:spPr>
            <a:xfrm>
              <a:off x="376424" y="4276304"/>
              <a:ext cx="739140" cy="640080"/>
            </a:xfrm>
            <a:custGeom>
              <a:avLst/>
              <a:gdLst/>
              <a:ahLst/>
              <a:cxnLst/>
              <a:rect l="l" t="t" r="r" b="b"/>
              <a:pathLst>
                <a:path w="739140" h="640079">
                  <a:moveTo>
                    <a:pt x="73875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738750" y="640079"/>
                  </a:lnTo>
                  <a:lnTo>
                    <a:pt x="73875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76424" y="4276304"/>
              <a:ext cx="739140" cy="640080"/>
            </a:xfrm>
            <a:custGeom>
              <a:avLst/>
              <a:gdLst/>
              <a:ahLst/>
              <a:cxnLst/>
              <a:rect l="l" t="t" r="r" b="b"/>
              <a:pathLst>
                <a:path w="739140" h="640079">
                  <a:moveTo>
                    <a:pt x="0" y="0"/>
                  </a:moveTo>
                  <a:lnTo>
                    <a:pt x="738751" y="0"/>
                  </a:lnTo>
                  <a:lnTo>
                    <a:pt x="738751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668806" y="4418076"/>
            <a:ext cx="1543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362137" y="5027874"/>
            <a:ext cx="767715" cy="668655"/>
            <a:chOff x="362137" y="5027874"/>
            <a:chExt cx="767715" cy="668655"/>
          </a:xfrm>
        </p:grpSpPr>
        <p:sp>
          <p:nvSpPr>
            <p:cNvPr id="38" name="object 38" descr=""/>
            <p:cNvSpPr/>
            <p:nvPr/>
          </p:nvSpPr>
          <p:spPr>
            <a:xfrm>
              <a:off x="376424" y="5042161"/>
              <a:ext cx="739140" cy="640080"/>
            </a:xfrm>
            <a:custGeom>
              <a:avLst/>
              <a:gdLst/>
              <a:ahLst/>
              <a:cxnLst/>
              <a:rect l="l" t="t" r="r" b="b"/>
              <a:pathLst>
                <a:path w="739140" h="640079">
                  <a:moveTo>
                    <a:pt x="738750" y="0"/>
                  </a:moveTo>
                  <a:lnTo>
                    <a:pt x="0" y="0"/>
                  </a:lnTo>
                  <a:lnTo>
                    <a:pt x="0" y="640080"/>
                  </a:lnTo>
                  <a:lnTo>
                    <a:pt x="738750" y="640080"/>
                  </a:lnTo>
                  <a:lnTo>
                    <a:pt x="73875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76424" y="5042161"/>
              <a:ext cx="739140" cy="640080"/>
            </a:xfrm>
            <a:custGeom>
              <a:avLst/>
              <a:gdLst/>
              <a:ahLst/>
              <a:cxnLst/>
              <a:rect l="l" t="t" r="r" b="b"/>
              <a:pathLst>
                <a:path w="739140" h="640079">
                  <a:moveTo>
                    <a:pt x="0" y="0"/>
                  </a:moveTo>
                  <a:lnTo>
                    <a:pt x="738751" y="0"/>
                  </a:lnTo>
                  <a:lnTo>
                    <a:pt x="738751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668806" y="5183123"/>
            <a:ext cx="1543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362137" y="5776364"/>
            <a:ext cx="767715" cy="668655"/>
            <a:chOff x="362137" y="5776364"/>
            <a:chExt cx="767715" cy="668655"/>
          </a:xfrm>
        </p:grpSpPr>
        <p:sp>
          <p:nvSpPr>
            <p:cNvPr id="42" name="object 42" descr=""/>
            <p:cNvSpPr/>
            <p:nvPr/>
          </p:nvSpPr>
          <p:spPr>
            <a:xfrm>
              <a:off x="376424" y="5790651"/>
              <a:ext cx="739140" cy="640080"/>
            </a:xfrm>
            <a:custGeom>
              <a:avLst/>
              <a:gdLst/>
              <a:ahLst/>
              <a:cxnLst/>
              <a:rect l="l" t="t" r="r" b="b"/>
              <a:pathLst>
                <a:path w="739140" h="640079">
                  <a:moveTo>
                    <a:pt x="738750" y="0"/>
                  </a:moveTo>
                  <a:lnTo>
                    <a:pt x="0" y="0"/>
                  </a:lnTo>
                  <a:lnTo>
                    <a:pt x="0" y="640079"/>
                  </a:lnTo>
                  <a:lnTo>
                    <a:pt x="738750" y="640079"/>
                  </a:lnTo>
                  <a:lnTo>
                    <a:pt x="73875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76424" y="5790651"/>
              <a:ext cx="739140" cy="640080"/>
            </a:xfrm>
            <a:custGeom>
              <a:avLst/>
              <a:gdLst/>
              <a:ahLst/>
              <a:cxnLst/>
              <a:rect l="l" t="t" r="r" b="b"/>
              <a:pathLst>
                <a:path w="739140" h="640079">
                  <a:moveTo>
                    <a:pt x="0" y="0"/>
                  </a:moveTo>
                  <a:lnTo>
                    <a:pt x="738751" y="0"/>
                  </a:lnTo>
                  <a:lnTo>
                    <a:pt x="738751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668806" y="5932932"/>
            <a:ext cx="1543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5" name="object 4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90"/>
              <a:t> </a:t>
            </a:r>
            <a:r>
              <a:rPr dirty="0" spc="-10"/>
              <a:t>Processing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333" y="1245704"/>
            <a:ext cx="1956435" cy="1097280"/>
          </a:xfrm>
          <a:prstGeom prst="rect">
            <a:avLst/>
          </a:prstGeom>
          <a:solidFill>
            <a:srgbClr val="1F4E79"/>
          </a:solidFill>
          <a:ln w="28575">
            <a:solidFill>
              <a:srgbClr val="1F4E79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67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5635" y="1245704"/>
            <a:ext cx="9457055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endParaRPr sz="2000">
              <a:latin typeface="Times New Roman"/>
              <a:cs typeface="Times New Roman"/>
            </a:endParaRPr>
          </a:p>
          <a:p>
            <a:pPr marL="433705" indent="-342265">
              <a:lnSpc>
                <a:spcPct val="100000"/>
              </a:lnSpc>
              <a:buFont typeface="Wingdings"/>
              <a:buChar char=""/>
              <a:tabLst>
                <a:tab pos="433705" algn="l"/>
              </a:tabLst>
            </a:pPr>
            <a:r>
              <a:rPr dirty="0" sz="2000" spc="-10">
                <a:latin typeface="Calibri"/>
                <a:cs typeface="Calibri"/>
              </a:rPr>
              <a:t>Prepare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analysis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removing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modifying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6529" y="2503632"/>
            <a:ext cx="2497455" cy="605155"/>
            <a:chOff x="396529" y="2503632"/>
            <a:chExt cx="2497455" cy="605155"/>
          </a:xfrm>
        </p:grpSpPr>
        <p:sp>
          <p:nvSpPr>
            <p:cNvPr id="6" name="object 6" descr=""/>
            <p:cNvSpPr/>
            <p:nvPr/>
          </p:nvSpPr>
          <p:spPr>
            <a:xfrm>
              <a:off x="410817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80" h="576580">
                  <a:moveTo>
                    <a:pt x="2468880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2468880" y="576469"/>
                  </a:lnTo>
                  <a:lnTo>
                    <a:pt x="246888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0817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80" h="576580">
                  <a:moveTo>
                    <a:pt x="0" y="0"/>
                  </a:moveTo>
                  <a:lnTo>
                    <a:pt x="2468880" y="0"/>
                  </a:lnTo>
                  <a:lnTo>
                    <a:pt x="246888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3370851" y="2503632"/>
            <a:ext cx="2497455" cy="605155"/>
            <a:chOff x="3370851" y="2503632"/>
            <a:chExt cx="2497455" cy="605155"/>
          </a:xfrm>
        </p:grpSpPr>
        <p:sp>
          <p:nvSpPr>
            <p:cNvPr id="9" name="object 9" descr=""/>
            <p:cNvSpPr/>
            <p:nvPr/>
          </p:nvSpPr>
          <p:spPr>
            <a:xfrm>
              <a:off x="3385139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2468879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2468879" y="576469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385139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0" y="0"/>
                  </a:moveTo>
                  <a:lnTo>
                    <a:pt x="2468880" y="0"/>
                  </a:lnTo>
                  <a:lnTo>
                    <a:pt x="246888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6345175" y="2503632"/>
            <a:ext cx="2497455" cy="605155"/>
            <a:chOff x="6345175" y="2503632"/>
            <a:chExt cx="2497455" cy="605155"/>
          </a:xfrm>
        </p:grpSpPr>
        <p:sp>
          <p:nvSpPr>
            <p:cNvPr id="12" name="object 12" descr=""/>
            <p:cNvSpPr/>
            <p:nvPr/>
          </p:nvSpPr>
          <p:spPr>
            <a:xfrm>
              <a:off x="6359462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2468879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2468879" y="576469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359462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0" y="0"/>
                  </a:moveTo>
                  <a:lnTo>
                    <a:pt x="2468880" y="0"/>
                  </a:lnTo>
                  <a:lnTo>
                    <a:pt x="246888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9319497" y="2503631"/>
            <a:ext cx="2497455" cy="605155"/>
            <a:chOff x="9319497" y="2503631"/>
            <a:chExt cx="2497455" cy="605155"/>
          </a:xfrm>
        </p:grpSpPr>
        <p:sp>
          <p:nvSpPr>
            <p:cNvPr id="15" name="object 15" descr=""/>
            <p:cNvSpPr/>
            <p:nvPr/>
          </p:nvSpPr>
          <p:spPr>
            <a:xfrm>
              <a:off x="9333785" y="2517918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2468879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2468879" y="576469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333785" y="2517918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0" y="0"/>
                  </a:moveTo>
                  <a:lnTo>
                    <a:pt x="2468880" y="0"/>
                  </a:lnTo>
                  <a:lnTo>
                    <a:pt x="246888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25104" y="2628900"/>
            <a:ext cx="11363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  <a:tabLst>
                <a:tab pos="3618865" algn="l"/>
                <a:tab pos="6713855" algn="l"/>
                <a:tab pos="9421495" algn="l"/>
              </a:tabLst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Numerical/Binary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Categorical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Balances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	Missing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Totals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89557" y="3180588"/>
            <a:ext cx="212153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Keep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columns containing relevant characteristics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 spc="-10">
                <a:latin typeface="Calibri"/>
                <a:cs typeface="Calibri"/>
              </a:rPr>
              <a:t>customer segments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462421" y="3180588"/>
            <a:ext cx="208661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Find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appropriate </a:t>
            </a:r>
            <a:r>
              <a:rPr dirty="0" sz="2000">
                <a:latin typeface="Calibri"/>
                <a:cs typeface="Calibri"/>
              </a:rPr>
              <a:t>level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detail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One-</a:t>
            </a:r>
            <a:r>
              <a:rPr dirty="0" sz="2000">
                <a:latin typeface="Calibri"/>
                <a:cs typeface="Calibri"/>
              </a:rPr>
              <a:t>hot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encode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408642" y="3180588"/>
            <a:ext cx="1820545" cy="193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277495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missing </a:t>
            </a:r>
            <a:r>
              <a:rPr dirty="0" sz="2000">
                <a:latin typeface="Calibri"/>
                <a:cs typeface="Calibri"/>
              </a:rPr>
              <a:t>balances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297815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-10,000</a:t>
            </a:r>
            <a:endParaRPr sz="200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smooth symmetric</a:t>
            </a:r>
            <a:r>
              <a:rPr dirty="0" sz="2000" spc="-25">
                <a:latin typeface="Calibri"/>
                <a:cs typeface="Calibri"/>
              </a:rPr>
              <a:t> log </a:t>
            </a:r>
            <a:r>
              <a:rPr dirty="0" sz="2000" spc="-10">
                <a:latin typeface="Calibri"/>
                <a:cs typeface="Calibri"/>
              </a:rPr>
              <a:t>scaling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412523" y="3153155"/>
            <a:ext cx="230886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Fill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blank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cells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with 0’s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 spc="-25">
                <a:latin typeface="Calibri"/>
                <a:cs typeface="Calibri"/>
              </a:rPr>
              <a:t>1’s </a:t>
            </a:r>
            <a:r>
              <a:rPr dirty="0" sz="2000">
                <a:latin typeface="Calibri"/>
                <a:cs typeface="Calibri"/>
              </a:rPr>
              <a:t>depending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 </a:t>
            </a:r>
            <a:r>
              <a:rPr dirty="0" sz="2000" spc="-10">
                <a:latin typeface="Calibri"/>
                <a:cs typeface="Calibri"/>
              </a:rPr>
              <a:t>context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3114267" y="2471536"/>
            <a:ext cx="0" cy="2651760"/>
          </a:xfrm>
          <a:custGeom>
            <a:avLst/>
            <a:gdLst/>
            <a:ahLst/>
            <a:cxnLst/>
            <a:rect l="l" t="t" r="r" b="b"/>
            <a:pathLst>
              <a:path w="0" h="2651760">
                <a:moveTo>
                  <a:pt x="0" y="2651760"/>
                </a:moveTo>
                <a:lnTo>
                  <a:pt x="1" y="0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6089380" y="2471536"/>
            <a:ext cx="0" cy="2651760"/>
          </a:xfrm>
          <a:custGeom>
            <a:avLst/>
            <a:gdLst/>
            <a:ahLst/>
            <a:cxnLst/>
            <a:rect l="l" t="t" r="r" b="b"/>
            <a:pathLst>
              <a:path w="0" h="2651760">
                <a:moveTo>
                  <a:pt x="0" y="2651760"/>
                </a:moveTo>
                <a:lnTo>
                  <a:pt x="1" y="0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9064494" y="2471536"/>
            <a:ext cx="0" cy="2651760"/>
          </a:xfrm>
          <a:custGeom>
            <a:avLst/>
            <a:gdLst/>
            <a:ahLst/>
            <a:cxnLst/>
            <a:rect l="l" t="t" r="r" b="b"/>
            <a:pathLst>
              <a:path w="0" h="2651760">
                <a:moveTo>
                  <a:pt x="0" y="2651760"/>
                </a:moveTo>
                <a:lnTo>
                  <a:pt x="1" y="0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5285963" y="5372328"/>
            <a:ext cx="1620520" cy="379730"/>
          </a:xfrm>
          <a:custGeom>
            <a:avLst/>
            <a:gdLst/>
            <a:ahLst/>
            <a:cxnLst/>
            <a:rect l="l" t="t" r="r" b="b"/>
            <a:pathLst>
              <a:path w="1620520" h="379729">
                <a:moveTo>
                  <a:pt x="1620069" y="0"/>
                </a:moveTo>
                <a:lnTo>
                  <a:pt x="0" y="0"/>
                </a:lnTo>
                <a:lnTo>
                  <a:pt x="810035" y="379666"/>
                </a:lnTo>
                <a:lnTo>
                  <a:pt x="1620069" y="0"/>
                </a:lnTo>
                <a:close/>
              </a:path>
            </a:pathLst>
          </a:custGeom>
          <a:solidFill>
            <a:srgbClr val="BDD7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4218372" y="5816623"/>
            <a:ext cx="3745865" cy="480695"/>
          </a:xfrm>
          <a:prstGeom prst="rect">
            <a:avLst/>
          </a:prstGeom>
          <a:solidFill>
            <a:srgbClr val="1F4E79"/>
          </a:solidFill>
        </p:spPr>
        <p:txBody>
          <a:bodyPr wrap="square" lIns="0" tIns="20320" rIns="0" bIns="0" rtlCol="0" vert="horz">
            <a:spAutoFit/>
          </a:bodyPr>
          <a:lstStyle/>
          <a:p>
            <a:pPr marL="1059180">
              <a:lnSpc>
                <a:spcPct val="100000"/>
              </a:lnSpc>
              <a:spcBef>
                <a:spcPts val="160"/>
              </a:spcBef>
            </a:pP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125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155"/>
              <a:t> </a:t>
            </a:r>
            <a:r>
              <a:rPr dirty="0" spc="-10"/>
              <a:t>Segmentation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333" y="1245704"/>
            <a:ext cx="1955800" cy="1097280"/>
          </a:xfrm>
          <a:prstGeom prst="rect">
            <a:avLst/>
          </a:prstGeom>
          <a:solidFill>
            <a:srgbClr val="1F4E79"/>
          </a:solidFill>
          <a:ln w="29856">
            <a:solidFill>
              <a:srgbClr val="1F4E79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67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4994" y="1245704"/>
            <a:ext cx="9456420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endParaRPr sz="2000">
              <a:latin typeface="Times New Roman"/>
              <a:cs typeface="Times New Roman"/>
            </a:endParaRPr>
          </a:p>
          <a:p>
            <a:pPr marL="433070" indent="-342900">
              <a:lnSpc>
                <a:spcPct val="100000"/>
              </a:lnSpc>
              <a:buFont typeface="Wingdings"/>
              <a:buChar char=""/>
              <a:tabLst>
                <a:tab pos="433070" algn="l"/>
              </a:tabLst>
            </a:pP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consumers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naturally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certain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groups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6529" y="2846532"/>
            <a:ext cx="5304790" cy="605155"/>
            <a:chOff x="396529" y="2846532"/>
            <a:chExt cx="5304790" cy="605155"/>
          </a:xfrm>
        </p:grpSpPr>
        <p:sp>
          <p:nvSpPr>
            <p:cNvPr id="6" name="object 6" descr=""/>
            <p:cNvSpPr/>
            <p:nvPr/>
          </p:nvSpPr>
          <p:spPr>
            <a:xfrm>
              <a:off x="410817" y="2860819"/>
              <a:ext cx="5276215" cy="576580"/>
            </a:xfrm>
            <a:custGeom>
              <a:avLst/>
              <a:gdLst/>
              <a:ahLst/>
              <a:cxnLst/>
              <a:rect l="l" t="t" r="r" b="b"/>
              <a:pathLst>
                <a:path w="5276215" h="576579">
                  <a:moveTo>
                    <a:pt x="5275691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5275691" y="576469"/>
                  </a:lnTo>
                  <a:lnTo>
                    <a:pt x="5275691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0817" y="2860819"/>
              <a:ext cx="5276215" cy="576580"/>
            </a:xfrm>
            <a:custGeom>
              <a:avLst/>
              <a:gdLst/>
              <a:ahLst/>
              <a:cxnLst/>
              <a:rect l="l" t="t" r="r" b="b"/>
              <a:pathLst>
                <a:path w="5276215" h="576579">
                  <a:moveTo>
                    <a:pt x="0" y="0"/>
                  </a:moveTo>
                  <a:lnTo>
                    <a:pt x="5275692" y="0"/>
                  </a:lnTo>
                  <a:lnTo>
                    <a:pt x="5275692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25104" y="2970276"/>
            <a:ext cx="52476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Methods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9557" y="3601211"/>
            <a:ext cx="4572000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Dimensionality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reduction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Finding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optimal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segments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Clustering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Segment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906165" y="3835400"/>
            <a:ext cx="379730" cy="1620520"/>
          </a:xfrm>
          <a:custGeom>
            <a:avLst/>
            <a:gdLst/>
            <a:ahLst/>
            <a:cxnLst/>
            <a:rect l="l" t="t" r="r" b="b"/>
            <a:pathLst>
              <a:path w="379729" h="1620520">
                <a:moveTo>
                  <a:pt x="0" y="0"/>
                </a:moveTo>
                <a:lnTo>
                  <a:pt x="0" y="1620069"/>
                </a:lnTo>
                <a:lnTo>
                  <a:pt x="379666" y="810033"/>
                </a:lnTo>
                <a:lnTo>
                  <a:pt x="0" y="0"/>
                </a:lnTo>
                <a:close/>
              </a:path>
            </a:pathLst>
          </a:custGeom>
          <a:solidFill>
            <a:srgbClr val="BDD7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525295" y="3691765"/>
            <a:ext cx="5276215" cy="80645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1943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30"/>
              </a:spcBef>
            </a:pPr>
            <a:r>
              <a:rPr dirty="0" sz="2400" spc="-10" b="1">
                <a:latin typeface="Calibri"/>
                <a:cs typeface="Calibri"/>
              </a:rPr>
              <a:t>Churn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525295" y="4779731"/>
            <a:ext cx="5276215" cy="80645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1943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30"/>
              </a:spcBef>
            </a:pPr>
            <a:r>
              <a:rPr dirty="0" sz="2400" spc="-10" b="1">
                <a:latin typeface="Calibri"/>
                <a:cs typeface="Calibri"/>
              </a:rPr>
              <a:t>Behaviors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511008" y="2856105"/>
            <a:ext cx="5304790" cy="605155"/>
            <a:chOff x="6511008" y="2856105"/>
            <a:chExt cx="5304790" cy="605155"/>
          </a:xfrm>
        </p:grpSpPr>
        <p:sp>
          <p:nvSpPr>
            <p:cNvPr id="14" name="object 14" descr=""/>
            <p:cNvSpPr/>
            <p:nvPr/>
          </p:nvSpPr>
          <p:spPr>
            <a:xfrm>
              <a:off x="6525295" y="2870393"/>
              <a:ext cx="5276215" cy="576580"/>
            </a:xfrm>
            <a:custGeom>
              <a:avLst/>
              <a:gdLst/>
              <a:ahLst/>
              <a:cxnLst/>
              <a:rect l="l" t="t" r="r" b="b"/>
              <a:pathLst>
                <a:path w="5276215" h="576579">
                  <a:moveTo>
                    <a:pt x="5276087" y="0"/>
                  </a:moveTo>
                  <a:lnTo>
                    <a:pt x="0" y="0"/>
                  </a:lnTo>
                  <a:lnTo>
                    <a:pt x="0" y="576468"/>
                  </a:lnTo>
                  <a:lnTo>
                    <a:pt x="5276087" y="576468"/>
                  </a:lnTo>
                  <a:lnTo>
                    <a:pt x="5276087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525295" y="2870393"/>
              <a:ext cx="5276215" cy="576580"/>
            </a:xfrm>
            <a:custGeom>
              <a:avLst/>
              <a:gdLst/>
              <a:ahLst/>
              <a:cxnLst/>
              <a:rect l="l" t="t" r="r" b="b"/>
              <a:pathLst>
                <a:path w="5276215" h="576579">
                  <a:moveTo>
                    <a:pt x="0" y="0"/>
                  </a:moveTo>
                  <a:lnTo>
                    <a:pt x="5276088" y="0"/>
                  </a:lnTo>
                  <a:lnTo>
                    <a:pt x="5276088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539583" y="2979420"/>
            <a:ext cx="52476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155"/>
              <a:t> </a:t>
            </a:r>
            <a:r>
              <a:rPr dirty="0" spc="-10"/>
              <a:t>Segmentation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333" y="1245704"/>
            <a:ext cx="1956435" cy="1097280"/>
          </a:xfrm>
          <a:prstGeom prst="rect">
            <a:avLst/>
          </a:prstGeom>
          <a:solidFill>
            <a:srgbClr val="1F4E79"/>
          </a:solidFill>
          <a:ln w="28575">
            <a:solidFill>
              <a:srgbClr val="1F4E79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67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5635" y="1245704"/>
            <a:ext cx="9457055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endParaRPr sz="2000">
              <a:latin typeface="Times New Roman"/>
              <a:cs typeface="Times New Roman"/>
            </a:endParaRPr>
          </a:p>
          <a:p>
            <a:pPr marL="433705" indent="-342265">
              <a:lnSpc>
                <a:spcPct val="100000"/>
              </a:lnSpc>
              <a:buFont typeface="Wingdings"/>
              <a:buChar char=""/>
              <a:tabLst>
                <a:tab pos="433705" algn="l"/>
              </a:tabLst>
            </a:pPr>
            <a:r>
              <a:rPr dirty="0" sz="2000">
                <a:latin typeface="Calibri"/>
                <a:cs typeface="Calibri"/>
              </a:rPr>
              <a:t>Find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concise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representation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6530" y="2706832"/>
            <a:ext cx="3783965" cy="605155"/>
            <a:chOff x="396530" y="2706832"/>
            <a:chExt cx="3783965" cy="605155"/>
          </a:xfrm>
        </p:grpSpPr>
        <p:sp>
          <p:nvSpPr>
            <p:cNvPr id="6" name="object 6" descr=""/>
            <p:cNvSpPr/>
            <p:nvPr/>
          </p:nvSpPr>
          <p:spPr>
            <a:xfrm>
              <a:off x="410817" y="2721119"/>
              <a:ext cx="3755390" cy="576580"/>
            </a:xfrm>
            <a:custGeom>
              <a:avLst/>
              <a:gdLst/>
              <a:ahLst/>
              <a:cxnLst/>
              <a:rect l="l" t="t" r="r" b="b"/>
              <a:pathLst>
                <a:path w="3755390" h="576579">
                  <a:moveTo>
                    <a:pt x="3754782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3754782" y="576469"/>
                  </a:lnTo>
                  <a:lnTo>
                    <a:pt x="375478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0817" y="2721119"/>
              <a:ext cx="3755390" cy="576580"/>
            </a:xfrm>
            <a:custGeom>
              <a:avLst/>
              <a:gdLst/>
              <a:ahLst/>
              <a:cxnLst/>
              <a:rect l="l" t="t" r="r" b="b"/>
              <a:pathLst>
                <a:path w="3755390" h="576579">
                  <a:moveTo>
                    <a:pt x="0" y="0"/>
                  </a:moveTo>
                  <a:lnTo>
                    <a:pt x="3754782" y="0"/>
                  </a:lnTo>
                  <a:lnTo>
                    <a:pt x="3754782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25105" y="2830067"/>
            <a:ext cx="37268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9557" y="3384804"/>
            <a:ext cx="299212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Dimensionality</a:t>
            </a:r>
            <a:r>
              <a:rPr dirty="0" sz="2000" spc="-1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reduction</a:t>
            </a:r>
            <a:endParaRPr sz="2000">
              <a:latin typeface="Calibri"/>
              <a:cs typeface="Calibri"/>
            </a:endParaRPr>
          </a:p>
          <a:p>
            <a:pPr lvl="1" marL="812165" indent="-342900">
              <a:lnSpc>
                <a:spcPct val="100000"/>
              </a:lnSpc>
              <a:buFont typeface="Wingdings"/>
              <a:buChar char=""/>
              <a:tabLst>
                <a:tab pos="812165" algn="l"/>
              </a:tabLst>
            </a:pPr>
            <a:r>
              <a:rPr dirty="0" sz="2000" spc="-10">
                <a:latin typeface="Calibri"/>
                <a:cs typeface="Calibri"/>
              </a:rPr>
              <a:t>Autoencoder</a:t>
            </a:r>
            <a:endParaRPr sz="2000">
              <a:latin typeface="Calibri"/>
              <a:cs typeface="Calibri"/>
            </a:endParaRPr>
          </a:p>
          <a:p>
            <a:pPr lvl="1" marL="812165" marR="5080" indent="-342900">
              <a:lnSpc>
                <a:spcPct val="100000"/>
              </a:lnSpc>
              <a:buFont typeface="Wingdings"/>
              <a:buChar char=""/>
              <a:tabLst>
                <a:tab pos="812165" algn="l"/>
              </a:tabLst>
            </a:pPr>
            <a:r>
              <a:rPr dirty="0" sz="2000">
                <a:latin typeface="Calibri"/>
                <a:cs typeface="Calibri"/>
              </a:rPr>
              <a:t>Principal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Component Analysis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Performance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lvl="1" marL="812165" indent="-342900">
              <a:lnSpc>
                <a:spcPct val="100000"/>
              </a:lnSpc>
              <a:buFont typeface="Wingdings"/>
              <a:buChar char=""/>
              <a:tabLst>
                <a:tab pos="812165" algn="l"/>
              </a:tabLst>
            </a:pPr>
            <a:r>
              <a:rPr dirty="0" sz="2000" spc="-10">
                <a:latin typeface="Calibri"/>
                <a:cs typeface="Calibri"/>
              </a:rPr>
              <a:t>Reconstruction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loss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393877" y="2747585"/>
            <a:ext cx="0" cy="3291840"/>
          </a:xfrm>
          <a:custGeom>
            <a:avLst/>
            <a:gdLst/>
            <a:ahLst/>
            <a:cxnLst/>
            <a:rect l="l" t="t" r="r" b="b"/>
            <a:pathLst>
              <a:path w="0" h="3291840">
                <a:moveTo>
                  <a:pt x="0" y="3291840"/>
                </a:moveTo>
                <a:lnTo>
                  <a:pt x="1" y="0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4547652" y="3446600"/>
            <a:ext cx="7324725" cy="2495550"/>
            <a:chOff x="4547652" y="3446600"/>
            <a:chExt cx="7324725" cy="249555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47652" y="3446600"/>
              <a:ext cx="3676650" cy="249555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4302" y="3446600"/>
              <a:ext cx="3648075" cy="2362200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8367712" y="2706832"/>
            <a:ext cx="3428365" cy="605155"/>
            <a:chOff x="8367712" y="2706832"/>
            <a:chExt cx="3428365" cy="605155"/>
          </a:xfrm>
        </p:grpSpPr>
        <p:sp>
          <p:nvSpPr>
            <p:cNvPr id="15" name="object 15" descr=""/>
            <p:cNvSpPr/>
            <p:nvPr/>
          </p:nvSpPr>
          <p:spPr>
            <a:xfrm>
              <a:off x="8382000" y="2721119"/>
              <a:ext cx="3399790" cy="576580"/>
            </a:xfrm>
            <a:custGeom>
              <a:avLst/>
              <a:gdLst/>
              <a:ahLst/>
              <a:cxnLst/>
              <a:rect l="l" t="t" r="r" b="b"/>
              <a:pathLst>
                <a:path w="3399790" h="576579">
                  <a:moveTo>
                    <a:pt x="3399180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3399180" y="576469"/>
                  </a:lnTo>
                  <a:lnTo>
                    <a:pt x="339918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382000" y="2721119"/>
              <a:ext cx="3399790" cy="576580"/>
            </a:xfrm>
            <a:custGeom>
              <a:avLst/>
              <a:gdLst/>
              <a:ahLst/>
              <a:cxnLst/>
              <a:rect l="l" t="t" r="r" b="b"/>
              <a:pathLst>
                <a:path w="3399790" h="576579">
                  <a:moveTo>
                    <a:pt x="0" y="0"/>
                  </a:moveTo>
                  <a:lnTo>
                    <a:pt x="3399181" y="0"/>
                  </a:lnTo>
                  <a:lnTo>
                    <a:pt x="3399181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396287" y="2677667"/>
            <a:ext cx="33712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4625" marR="140335" indent="-129730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Reconstructed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vs.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Actual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706801" y="2706832"/>
            <a:ext cx="3428365" cy="605155"/>
            <a:chOff x="4706801" y="2706832"/>
            <a:chExt cx="3428365" cy="605155"/>
          </a:xfrm>
        </p:grpSpPr>
        <p:sp>
          <p:nvSpPr>
            <p:cNvPr id="19" name="object 19" descr=""/>
            <p:cNvSpPr/>
            <p:nvPr/>
          </p:nvSpPr>
          <p:spPr>
            <a:xfrm>
              <a:off x="4721088" y="2721119"/>
              <a:ext cx="3399790" cy="576580"/>
            </a:xfrm>
            <a:custGeom>
              <a:avLst/>
              <a:gdLst/>
              <a:ahLst/>
              <a:cxnLst/>
              <a:rect l="l" t="t" r="r" b="b"/>
              <a:pathLst>
                <a:path w="3399790" h="576579">
                  <a:moveTo>
                    <a:pt x="3399180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3399180" y="576469"/>
                  </a:lnTo>
                  <a:lnTo>
                    <a:pt x="339918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721088" y="2721119"/>
              <a:ext cx="3399790" cy="576580"/>
            </a:xfrm>
            <a:custGeom>
              <a:avLst/>
              <a:gdLst/>
              <a:ahLst/>
              <a:cxnLst/>
              <a:rect l="l" t="t" r="r" b="b"/>
              <a:pathLst>
                <a:path w="3399790" h="576579">
                  <a:moveTo>
                    <a:pt x="0" y="0"/>
                  </a:moveTo>
                  <a:lnTo>
                    <a:pt x="3399181" y="0"/>
                  </a:lnTo>
                  <a:lnTo>
                    <a:pt x="3399181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735376" y="2830067"/>
            <a:ext cx="33712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Percent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Described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155"/>
              <a:t> </a:t>
            </a:r>
            <a:r>
              <a:rPr dirty="0" spc="-10"/>
              <a:t>Segmentation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333" y="1245704"/>
            <a:ext cx="1956435" cy="1097280"/>
          </a:xfrm>
          <a:prstGeom prst="rect">
            <a:avLst/>
          </a:prstGeom>
          <a:solidFill>
            <a:srgbClr val="1F4E79"/>
          </a:solidFill>
          <a:ln w="28575">
            <a:solidFill>
              <a:srgbClr val="1F4E79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67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5635" y="1245704"/>
            <a:ext cx="9457055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endParaRPr sz="2000">
              <a:latin typeface="Times New Roman"/>
              <a:cs typeface="Times New Roman"/>
            </a:endParaRPr>
          </a:p>
          <a:p>
            <a:pPr marL="433705" indent="-342265">
              <a:lnSpc>
                <a:spcPct val="100000"/>
              </a:lnSpc>
              <a:buFont typeface="Wingdings"/>
              <a:buChar char=""/>
              <a:tabLst>
                <a:tab pos="433705" algn="l"/>
              </a:tabLst>
            </a:pP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unsupervised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learning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segment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customers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groups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6528" y="2668732"/>
            <a:ext cx="5396865" cy="605155"/>
            <a:chOff x="396528" y="2668732"/>
            <a:chExt cx="5396865" cy="605155"/>
          </a:xfrm>
        </p:grpSpPr>
        <p:sp>
          <p:nvSpPr>
            <p:cNvPr id="6" name="object 6" descr=""/>
            <p:cNvSpPr/>
            <p:nvPr/>
          </p:nvSpPr>
          <p:spPr>
            <a:xfrm>
              <a:off x="410816" y="2683019"/>
              <a:ext cx="5368290" cy="576580"/>
            </a:xfrm>
            <a:custGeom>
              <a:avLst/>
              <a:gdLst/>
              <a:ahLst/>
              <a:cxnLst/>
              <a:rect l="l" t="t" r="r" b="b"/>
              <a:pathLst>
                <a:path w="5368290" h="576579">
                  <a:moveTo>
                    <a:pt x="5367664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5367664" y="576469"/>
                  </a:lnTo>
                  <a:lnTo>
                    <a:pt x="5367664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0816" y="2683019"/>
              <a:ext cx="5368290" cy="576580"/>
            </a:xfrm>
            <a:custGeom>
              <a:avLst/>
              <a:gdLst/>
              <a:ahLst/>
              <a:cxnLst/>
              <a:rect l="l" t="t" r="r" b="b"/>
              <a:pathLst>
                <a:path w="5368290" h="576579">
                  <a:moveTo>
                    <a:pt x="0" y="0"/>
                  </a:moveTo>
                  <a:lnTo>
                    <a:pt x="5367665" y="0"/>
                  </a:lnTo>
                  <a:lnTo>
                    <a:pt x="5367665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25103" y="2793491"/>
            <a:ext cx="53397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unsupervised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segmentation?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9556" y="3345179"/>
            <a:ext cx="5201285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78613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Cherry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picking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metrics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capture </a:t>
            </a:r>
            <a:r>
              <a:rPr dirty="0" sz="2000">
                <a:latin typeface="Calibri"/>
                <a:cs typeface="Calibri"/>
              </a:rPr>
              <a:t>nuances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marL="354965" marR="400685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Unsupervised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clustering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cover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much </a:t>
            </a:r>
            <a:r>
              <a:rPr dirty="0" sz="2000" spc="-10">
                <a:latin typeface="Calibri"/>
                <a:cs typeface="Calibri"/>
              </a:rPr>
              <a:t>information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possible</a:t>
            </a:r>
            <a:endParaRPr sz="2000">
              <a:latin typeface="Calibri"/>
              <a:cs typeface="Calibri"/>
            </a:endParaRPr>
          </a:p>
          <a:p>
            <a:pPr algn="just" marL="354965" marR="569595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understand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churn,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first understand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correlation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consumer behavior</a:t>
            </a:r>
            <a:endParaRPr sz="2000">
              <a:latin typeface="Calibri"/>
              <a:cs typeface="Calibri"/>
            </a:endParaRPr>
          </a:p>
          <a:p>
            <a:pPr algn="just" marL="354965" marR="5080" indent="-342900">
              <a:lnSpc>
                <a:spcPct val="100000"/>
              </a:lnSpc>
              <a:buFont typeface="Wingdings"/>
              <a:buChar char="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Spectral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clustering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best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suited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nonconvex geometry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955977" y="2709485"/>
            <a:ext cx="0" cy="3291840"/>
          </a:xfrm>
          <a:custGeom>
            <a:avLst/>
            <a:gdLst/>
            <a:ahLst/>
            <a:cxnLst/>
            <a:rect l="l" t="t" r="r" b="b"/>
            <a:pathLst>
              <a:path w="0" h="3291840">
                <a:moveTo>
                  <a:pt x="0" y="3291840"/>
                </a:moveTo>
                <a:lnTo>
                  <a:pt x="1" y="0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382787" y="2693286"/>
            <a:ext cx="5394960" cy="82296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24701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945"/>
              </a:spcBef>
            </a:pPr>
            <a:r>
              <a:rPr dirty="0" sz="2000">
                <a:latin typeface="Calibri"/>
                <a:cs typeface="Calibri"/>
              </a:rPr>
              <a:t>Select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clusters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eigengaps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82787" y="3996070"/>
            <a:ext cx="5394960" cy="82296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245745" rIns="0" bIns="0" rtlCol="0" vert="horz">
            <a:spAutoFit/>
          </a:bodyPr>
          <a:lstStyle/>
          <a:p>
            <a:pPr marL="429895">
              <a:lnSpc>
                <a:spcPct val="100000"/>
              </a:lnSpc>
              <a:spcBef>
                <a:spcPts val="1935"/>
              </a:spcBef>
            </a:pPr>
            <a:r>
              <a:rPr dirty="0" sz="2000" spc="-10">
                <a:latin typeface="Calibri"/>
                <a:cs typeface="Calibri"/>
              </a:rPr>
              <a:t>Perform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large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clustering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KMeans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382787" y="5298855"/>
            <a:ext cx="5394960" cy="82296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94615" rIns="0" bIns="0" rtlCol="0" vert="horz">
            <a:spAutoFit/>
          </a:bodyPr>
          <a:lstStyle/>
          <a:p>
            <a:pPr marL="2289810" marR="375920" indent="-1905000">
              <a:lnSpc>
                <a:spcPct val="100000"/>
              </a:lnSpc>
              <a:spcBef>
                <a:spcPts val="745"/>
              </a:spcBef>
            </a:pPr>
            <a:r>
              <a:rPr dirty="0" sz="2000">
                <a:latin typeface="Calibri"/>
                <a:cs typeface="Calibri"/>
              </a:rPr>
              <a:t>Examine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clustering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performance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elbow method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6131873" y="4549356"/>
            <a:ext cx="243204" cy="971550"/>
          </a:xfrm>
          <a:custGeom>
            <a:avLst/>
            <a:gdLst/>
            <a:ahLst/>
            <a:cxnLst/>
            <a:rect l="l" t="t" r="r" b="b"/>
            <a:pathLst>
              <a:path w="243204" h="971550">
                <a:moveTo>
                  <a:pt x="144462" y="885825"/>
                </a:moveTo>
                <a:lnTo>
                  <a:pt x="144462" y="971550"/>
                </a:lnTo>
                <a:lnTo>
                  <a:pt x="201612" y="942975"/>
                </a:lnTo>
                <a:lnTo>
                  <a:pt x="158750" y="942975"/>
                </a:lnTo>
                <a:lnTo>
                  <a:pt x="158750" y="914400"/>
                </a:lnTo>
                <a:lnTo>
                  <a:pt x="201612" y="914400"/>
                </a:lnTo>
                <a:lnTo>
                  <a:pt x="144462" y="885825"/>
                </a:lnTo>
                <a:close/>
              </a:path>
              <a:path w="243204" h="971550">
                <a:moveTo>
                  <a:pt x="242887" y="0"/>
                </a:moveTo>
                <a:lnTo>
                  <a:pt x="0" y="0"/>
                </a:lnTo>
                <a:lnTo>
                  <a:pt x="0" y="942975"/>
                </a:lnTo>
                <a:lnTo>
                  <a:pt x="144462" y="942975"/>
                </a:lnTo>
                <a:lnTo>
                  <a:pt x="144462" y="928687"/>
                </a:lnTo>
                <a:lnTo>
                  <a:pt x="28575" y="928687"/>
                </a:lnTo>
                <a:lnTo>
                  <a:pt x="14287" y="914400"/>
                </a:lnTo>
                <a:lnTo>
                  <a:pt x="28575" y="914400"/>
                </a:lnTo>
                <a:lnTo>
                  <a:pt x="28575" y="28575"/>
                </a:lnTo>
                <a:lnTo>
                  <a:pt x="14287" y="28575"/>
                </a:lnTo>
                <a:lnTo>
                  <a:pt x="28575" y="14287"/>
                </a:lnTo>
                <a:lnTo>
                  <a:pt x="242887" y="14287"/>
                </a:lnTo>
                <a:lnTo>
                  <a:pt x="242887" y="0"/>
                </a:lnTo>
                <a:close/>
              </a:path>
              <a:path w="243204" h="971550">
                <a:moveTo>
                  <a:pt x="201612" y="914400"/>
                </a:moveTo>
                <a:lnTo>
                  <a:pt x="158750" y="914400"/>
                </a:lnTo>
                <a:lnTo>
                  <a:pt x="158750" y="942975"/>
                </a:lnTo>
                <a:lnTo>
                  <a:pt x="201612" y="942975"/>
                </a:lnTo>
                <a:lnTo>
                  <a:pt x="230187" y="928687"/>
                </a:lnTo>
                <a:lnTo>
                  <a:pt x="201612" y="914400"/>
                </a:lnTo>
                <a:close/>
              </a:path>
              <a:path w="243204" h="971550">
                <a:moveTo>
                  <a:pt x="28575" y="914400"/>
                </a:moveTo>
                <a:lnTo>
                  <a:pt x="14287" y="914400"/>
                </a:lnTo>
                <a:lnTo>
                  <a:pt x="28575" y="928687"/>
                </a:lnTo>
                <a:lnTo>
                  <a:pt x="28575" y="914400"/>
                </a:lnTo>
                <a:close/>
              </a:path>
              <a:path w="243204" h="971550">
                <a:moveTo>
                  <a:pt x="144462" y="914400"/>
                </a:moveTo>
                <a:lnTo>
                  <a:pt x="28575" y="914400"/>
                </a:lnTo>
                <a:lnTo>
                  <a:pt x="28575" y="928687"/>
                </a:lnTo>
                <a:lnTo>
                  <a:pt x="144462" y="928687"/>
                </a:lnTo>
                <a:lnTo>
                  <a:pt x="144462" y="914400"/>
                </a:lnTo>
                <a:close/>
              </a:path>
              <a:path w="243204" h="971550">
                <a:moveTo>
                  <a:pt x="28575" y="14287"/>
                </a:moveTo>
                <a:lnTo>
                  <a:pt x="14287" y="28575"/>
                </a:lnTo>
                <a:lnTo>
                  <a:pt x="28575" y="28575"/>
                </a:lnTo>
                <a:lnTo>
                  <a:pt x="28575" y="14287"/>
                </a:lnTo>
                <a:close/>
              </a:path>
              <a:path w="243204" h="971550">
                <a:moveTo>
                  <a:pt x="242887" y="14287"/>
                </a:moveTo>
                <a:lnTo>
                  <a:pt x="28575" y="14287"/>
                </a:lnTo>
                <a:lnTo>
                  <a:pt x="28575" y="28575"/>
                </a:lnTo>
                <a:lnTo>
                  <a:pt x="242887" y="28575"/>
                </a:lnTo>
                <a:lnTo>
                  <a:pt x="242887" y="14287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131873" y="3250929"/>
            <a:ext cx="243204" cy="971550"/>
          </a:xfrm>
          <a:custGeom>
            <a:avLst/>
            <a:gdLst/>
            <a:ahLst/>
            <a:cxnLst/>
            <a:rect l="l" t="t" r="r" b="b"/>
            <a:pathLst>
              <a:path w="243204" h="971550">
                <a:moveTo>
                  <a:pt x="144462" y="885825"/>
                </a:moveTo>
                <a:lnTo>
                  <a:pt x="144462" y="971550"/>
                </a:lnTo>
                <a:lnTo>
                  <a:pt x="201612" y="942975"/>
                </a:lnTo>
                <a:lnTo>
                  <a:pt x="158750" y="942975"/>
                </a:lnTo>
                <a:lnTo>
                  <a:pt x="158750" y="914400"/>
                </a:lnTo>
                <a:lnTo>
                  <a:pt x="201612" y="914400"/>
                </a:lnTo>
                <a:lnTo>
                  <a:pt x="144462" y="885825"/>
                </a:lnTo>
                <a:close/>
              </a:path>
              <a:path w="243204" h="971550">
                <a:moveTo>
                  <a:pt x="242887" y="0"/>
                </a:moveTo>
                <a:lnTo>
                  <a:pt x="0" y="0"/>
                </a:lnTo>
                <a:lnTo>
                  <a:pt x="0" y="942975"/>
                </a:lnTo>
                <a:lnTo>
                  <a:pt x="144462" y="942975"/>
                </a:lnTo>
                <a:lnTo>
                  <a:pt x="144462" y="928687"/>
                </a:lnTo>
                <a:lnTo>
                  <a:pt x="28575" y="928687"/>
                </a:lnTo>
                <a:lnTo>
                  <a:pt x="14287" y="914400"/>
                </a:lnTo>
                <a:lnTo>
                  <a:pt x="28575" y="914400"/>
                </a:lnTo>
                <a:lnTo>
                  <a:pt x="28575" y="28575"/>
                </a:lnTo>
                <a:lnTo>
                  <a:pt x="14287" y="28575"/>
                </a:lnTo>
                <a:lnTo>
                  <a:pt x="28575" y="14287"/>
                </a:lnTo>
                <a:lnTo>
                  <a:pt x="242887" y="14287"/>
                </a:lnTo>
                <a:lnTo>
                  <a:pt x="242887" y="0"/>
                </a:lnTo>
                <a:close/>
              </a:path>
              <a:path w="243204" h="971550">
                <a:moveTo>
                  <a:pt x="201612" y="914400"/>
                </a:moveTo>
                <a:lnTo>
                  <a:pt x="158750" y="914400"/>
                </a:lnTo>
                <a:lnTo>
                  <a:pt x="158750" y="942975"/>
                </a:lnTo>
                <a:lnTo>
                  <a:pt x="201612" y="942975"/>
                </a:lnTo>
                <a:lnTo>
                  <a:pt x="230187" y="928687"/>
                </a:lnTo>
                <a:lnTo>
                  <a:pt x="201612" y="914400"/>
                </a:lnTo>
                <a:close/>
              </a:path>
              <a:path w="243204" h="971550">
                <a:moveTo>
                  <a:pt x="28575" y="914400"/>
                </a:moveTo>
                <a:lnTo>
                  <a:pt x="14287" y="914400"/>
                </a:lnTo>
                <a:lnTo>
                  <a:pt x="28575" y="928687"/>
                </a:lnTo>
                <a:lnTo>
                  <a:pt x="28575" y="914400"/>
                </a:lnTo>
                <a:close/>
              </a:path>
              <a:path w="243204" h="971550">
                <a:moveTo>
                  <a:pt x="144462" y="914400"/>
                </a:moveTo>
                <a:lnTo>
                  <a:pt x="28575" y="914400"/>
                </a:lnTo>
                <a:lnTo>
                  <a:pt x="28575" y="928687"/>
                </a:lnTo>
                <a:lnTo>
                  <a:pt x="144462" y="928687"/>
                </a:lnTo>
                <a:lnTo>
                  <a:pt x="144462" y="914400"/>
                </a:lnTo>
                <a:close/>
              </a:path>
              <a:path w="243204" h="971550">
                <a:moveTo>
                  <a:pt x="28575" y="14287"/>
                </a:moveTo>
                <a:lnTo>
                  <a:pt x="14287" y="28575"/>
                </a:lnTo>
                <a:lnTo>
                  <a:pt x="28575" y="28575"/>
                </a:lnTo>
                <a:lnTo>
                  <a:pt x="28575" y="14287"/>
                </a:lnTo>
                <a:close/>
              </a:path>
              <a:path w="243204" h="971550">
                <a:moveTo>
                  <a:pt x="242887" y="14287"/>
                </a:moveTo>
                <a:lnTo>
                  <a:pt x="28575" y="14287"/>
                </a:lnTo>
                <a:lnTo>
                  <a:pt x="28575" y="28575"/>
                </a:lnTo>
                <a:lnTo>
                  <a:pt x="242887" y="28575"/>
                </a:lnTo>
                <a:lnTo>
                  <a:pt x="242887" y="14287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155"/>
              <a:t> </a:t>
            </a:r>
            <a:r>
              <a:rPr dirty="0" spc="-10"/>
              <a:t>Segmentation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333" y="1245704"/>
            <a:ext cx="1956435" cy="1097280"/>
          </a:xfrm>
          <a:prstGeom prst="rect">
            <a:avLst/>
          </a:prstGeom>
          <a:solidFill>
            <a:srgbClr val="1F4E79"/>
          </a:solidFill>
          <a:ln w="28575">
            <a:solidFill>
              <a:srgbClr val="1F4E79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67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5635" y="1245704"/>
            <a:ext cx="9457055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endParaRPr sz="2000">
              <a:latin typeface="Times New Roman"/>
              <a:cs typeface="Times New Roman"/>
            </a:endParaRPr>
          </a:p>
          <a:p>
            <a:pPr marL="433705" indent="-342265">
              <a:lnSpc>
                <a:spcPct val="100000"/>
              </a:lnSpc>
              <a:buFont typeface="Wingdings"/>
              <a:buChar char=""/>
              <a:tabLst>
                <a:tab pos="433705" algn="l"/>
              </a:tabLst>
            </a:pP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unsupervised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learning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segment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customers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groups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89333" y="3730171"/>
            <a:ext cx="7054850" cy="2446020"/>
            <a:chOff x="389333" y="3730171"/>
            <a:chExt cx="7054850" cy="244602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333" y="3730171"/>
              <a:ext cx="7054409" cy="244563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758728" y="46786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444528" y="42976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8"/>
                  </a:lnTo>
                  <a:lnTo>
                    <a:pt x="39041" y="100787"/>
                  </a:lnTo>
                  <a:lnTo>
                    <a:pt x="66955" y="66955"/>
                  </a:lnTo>
                  <a:lnTo>
                    <a:pt x="100787" y="39041"/>
                  </a:lnTo>
                  <a:lnTo>
                    <a:pt x="139618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1" y="17964"/>
                  </a:lnTo>
                  <a:lnTo>
                    <a:pt x="356412" y="39041"/>
                  </a:lnTo>
                  <a:lnTo>
                    <a:pt x="390244" y="66955"/>
                  </a:lnTo>
                  <a:lnTo>
                    <a:pt x="418158" y="100787"/>
                  </a:lnTo>
                  <a:lnTo>
                    <a:pt x="439235" y="139618"/>
                  </a:lnTo>
                  <a:lnTo>
                    <a:pt x="452555" y="182529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1"/>
                  </a:lnTo>
                  <a:lnTo>
                    <a:pt x="418158" y="356412"/>
                  </a:lnTo>
                  <a:lnTo>
                    <a:pt x="390244" y="390244"/>
                  </a:lnTo>
                  <a:lnTo>
                    <a:pt x="356412" y="418158"/>
                  </a:lnTo>
                  <a:lnTo>
                    <a:pt x="317581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8" y="439235"/>
                  </a:lnTo>
                  <a:lnTo>
                    <a:pt x="100787" y="418158"/>
                  </a:lnTo>
                  <a:lnTo>
                    <a:pt x="66955" y="390244"/>
                  </a:lnTo>
                  <a:lnTo>
                    <a:pt x="39041" y="356412"/>
                  </a:lnTo>
                  <a:lnTo>
                    <a:pt x="17964" y="317581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7800340" y="3718790"/>
            <a:ext cx="3708400" cy="2453005"/>
            <a:chOff x="7800340" y="3718790"/>
            <a:chExt cx="3708400" cy="245300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0340" y="3718790"/>
              <a:ext cx="3708400" cy="245248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0675289" y="5124664"/>
              <a:ext cx="655320" cy="393700"/>
            </a:xfrm>
            <a:custGeom>
              <a:avLst/>
              <a:gdLst/>
              <a:ahLst/>
              <a:cxnLst/>
              <a:rect l="l" t="t" r="r" b="b"/>
              <a:pathLst>
                <a:path w="655320" h="393700">
                  <a:moveTo>
                    <a:pt x="52157" y="312905"/>
                  </a:moveTo>
                  <a:lnTo>
                    <a:pt x="0" y="393313"/>
                  </a:lnTo>
                  <a:lnTo>
                    <a:pt x="95622" y="386795"/>
                  </a:lnTo>
                  <a:lnTo>
                    <a:pt x="85394" y="369408"/>
                  </a:lnTo>
                  <a:lnTo>
                    <a:pt x="68818" y="369408"/>
                  </a:lnTo>
                  <a:lnTo>
                    <a:pt x="54330" y="344779"/>
                  </a:lnTo>
                  <a:lnTo>
                    <a:pt x="66645" y="337535"/>
                  </a:lnTo>
                  <a:lnTo>
                    <a:pt x="52157" y="312905"/>
                  </a:lnTo>
                  <a:close/>
                </a:path>
                <a:path w="655320" h="393700">
                  <a:moveTo>
                    <a:pt x="66645" y="337535"/>
                  </a:moveTo>
                  <a:lnTo>
                    <a:pt x="54330" y="344779"/>
                  </a:lnTo>
                  <a:lnTo>
                    <a:pt x="68818" y="369408"/>
                  </a:lnTo>
                  <a:lnTo>
                    <a:pt x="81133" y="362164"/>
                  </a:lnTo>
                  <a:lnTo>
                    <a:pt x="66645" y="337535"/>
                  </a:lnTo>
                  <a:close/>
                </a:path>
                <a:path w="655320" h="393700">
                  <a:moveTo>
                    <a:pt x="81133" y="362164"/>
                  </a:moveTo>
                  <a:lnTo>
                    <a:pt x="68818" y="369408"/>
                  </a:lnTo>
                  <a:lnTo>
                    <a:pt x="85394" y="369408"/>
                  </a:lnTo>
                  <a:lnTo>
                    <a:pt x="81133" y="362164"/>
                  </a:lnTo>
                  <a:close/>
                </a:path>
                <a:path w="655320" h="393700">
                  <a:moveTo>
                    <a:pt x="640455" y="0"/>
                  </a:moveTo>
                  <a:lnTo>
                    <a:pt x="66645" y="337535"/>
                  </a:lnTo>
                  <a:lnTo>
                    <a:pt x="81133" y="362164"/>
                  </a:lnTo>
                  <a:lnTo>
                    <a:pt x="654944" y="24629"/>
                  </a:lnTo>
                  <a:lnTo>
                    <a:pt x="64045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375046" y="2793612"/>
            <a:ext cx="7043420" cy="605155"/>
            <a:chOff x="375046" y="2793612"/>
            <a:chExt cx="7043420" cy="605155"/>
          </a:xfrm>
        </p:grpSpPr>
        <p:sp>
          <p:nvSpPr>
            <p:cNvPr id="13" name="object 13" descr=""/>
            <p:cNvSpPr/>
            <p:nvPr/>
          </p:nvSpPr>
          <p:spPr>
            <a:xfrm>
              <a:off x="389333" y="2807900"/>
              <a:ext cx="7014845" cy="576580"/>
            </a:xfrm>
            <a:custGeom>
              <a:avLst/>
              <a:gdLst/>
              <a:ahLst/>
              <a:cxnLst/>
              <a:rect l="l" t="t" r="r" b="b"/>
              <a:pathLst>
                <a:path w="7014845" h="576579">
                  <a:moveTo>
                    <a:pt x="7014766" y="0"/>
                  </a:moveTo>
                  <a:lnTo>
                    <a:pt x="0" y="0"/>
                  </a:lnTo>
                  <a:lnTo>
                    <a:pt x="0" y="576468"/>
                  </a:lnTo>
                  <a:lnTo>
                    <a:pt x="7014766" y="576468"/>
                  </a:lnTo>
                  <a:lnTo>
                    <a:pt x="7014766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9333" y="2807900"/>
              <a:ext cx="7014845" cy="576580"/>
            </a:xfrm>
            <a:custGeom>
              <a:avLst/>
              <a:gdLst/>
              <a:ahLst/>
              <a:cxnLst/>
              <a:rect l="l" t="t" r="r" b="b"/>
              <a:pathLst>
                <a:path w="7014845" h="576579">
                  <a:moveTo>
                    <a:pt x="0" y="0"/>
                  </a:moveTo>
                  <a:lnTo>
                    <a:pt x="7014766" y="0"/>
                  </a:lnTo>
                  <a:lnTo>
                    <a:pt x="7014766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03621" y="2918459"/>
            <a:ext cx="69862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Largest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increases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eigenvalues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694614" y="2793612"/>
            <a:ext cx="4082415" cy="605155"/>
            <a:chOff x="7694614" y="2793612"/>
            <a:chExt cx="4082415" cy="605155"/>
          </a:xfrm>
        </p:grpSpPr>
        <p:sp>
          <p:nvSpPr>
            <p:cNvPr id="17" name="object 17" descr=""/>
            <p:cNvSpPr/>
            <p:nvPr/>
          </p:nvSpPr>
          <p:spPr>
            <a:xfrm>
              <a:off x="7708901" y="2807900"/>
              <a:ext cx="4053840" cy="576580"/>
            </a:xfrm>
            <a:custGeom>
              <a:avLst/>
              <a:gdLst/>
              <a:ahLst/>
              <a:cxnLst/>
              <a:rect l="l" t="t" r="r" b="b"/>
              <a:pathLst>
                <a:path w="4053840" h="576579">
                  <a:moveTo>
                    <a:pt x="4053726" y="0"/>
                  </a:moveTo>
                  <a:lnTo>
                    <a:pt x="0" y="0"/>
                  </a:lnTo>
                  <a:lnTo>
                    <a:pt x="0" y="576468"/>
                  </a:lnTo>
                  <a:lnTo>
                    <a:pt x="4053726" y="576468"/>
                  </a:lnTo>
                  <a:lnTo>
                    <a:pt x="4053726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708901" y="2807900"/>
              <a:ext cx="4053840" cy="576580"/>
            </a:xfrm>
            <a:custGeom>
              <a:avLst/>
              <a:gdLst/>
              <a:ahLst/>
              <a:cxnLst/>
              <a:rect l="l" t="t" r="r" b="b"/>
              <a:pathLst>
                <a:path w="4053840" h="576579">
                  <a:moveTo>
                    <a:pt x="0" y="0"/>
                  </a:moveTo>
                  <a:lnTo>
                    <a:pt x="4053728" y="0"/>
                  </a:lnTo>
                  <a:lnTo>
                    <a:pt x="4053728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723189" y="2918459"/>
            <a:ext cx="40252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401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Minimized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inner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cluster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distance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155"/>
              <a:t> </a:t>
            </a:r>
            <a:r>
              <a:rPr dirty="0" spc="-10"/>
              <a:t>Segmentation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40963" y="2010337"/>
            <a:ext cx="11413490" cy="746125"/>
            <a:chOff x="340963" y="2010337"/>
            <a:chExt cx="11413490" cy="746125"/>
          </a:xfrm>
        </p:grpSpPr>
        <p:sp>
          <p:nvSpPr>
            <p:cNvPr id="4" name="object 4" descr=""/>
            <p:cNvSpPr/>
            <p:nvPr/>
          </p:nvSpPr>
          <p:spPr>
            <a:xfrm>
              <a:off x="340956" y="2016696"/>
              <a:ext cx="11413490" cy="739775"/>
            </a:xfrm>
            <a:custGeom>
              <a:avLst/>
              <a:gdLst/>
              <a:ahLst/>
              <a:cxnLst/>
              <a:rect l="l" t="t" r="r" b="b"/>
              <a:pathLst>
                <a:path w="11413490" h="739775">
                  <a:moveTo>
                    <a:pt x="11413325" y="0"/>
                  </a:moveTo>
                  <a:lnTo>
                    <a:pt x="2553271" y="0"/>
                  </a:lnTo>
                  <a:lnTo>
                    <a:pt x="0" y="0"/>
                  </a:lnTo>
                  <a:lnTo>
                    <a:pt x="0" y="739660"/>
                  </a:lnTo>
                  <a:lnTo>
                    <a:pt x="2553271" y="739660"/>
                  </a:lnTo>
                  <a:lnTo>
                    <a:pt x="11413325" y="739660"/>
                  </a:lnTo>
                  <a:lnTo>
                    <a:pt x="11413325" y="0"/>
                  </a:lnTo>
                  <a:close/>
                </a:path>
              </a:pathLst>
            </a:custGeom>
            <a:solidFill>
              <a:srgbClr val="5B9BD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40963" y="2016687"/>
              <a:ext cx="11413490" cy="0"/>
            </a:xfrm>
            <a:custGeom>
              <a:avLst/>
              <a:gdLst/>
              <a:ahLst/>
              <a:cxnLst/>
              <a:rect l="l" t="t" r="r" b="b"/>
              <a:pathLst>
                <a:path w="11413490" h="0">
                  <a:moveTo>
                    <a:pt x="0" y="0"/>
                  </a:moveTo>
                  <a:lnTo>
                    <a:pt x="11413330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340956" y="3496005"/>
            <a:ext cx="11413490" cy="739775"/>
          </a:xfrm>
          <a:custGeom>
            <a:avLst/>
            <a:gdLst/>
            <a:ahLst/>
            <a:cxnLst/>
            <a:rect l="l" t="t" r="r" b="b"/>
            <a:pathLst>
              <a:path w="11413490" h="739775">
                <a:moveTo>
                  <a:pt x="11413325" y="0"/>
                </a:moveTo>
                <a:lnTo>
                  <a:pt x="2553271" y="0"/>
                </a:lnTo>
                <a:lnTo>
                  <a:pt x="0" y="0"/>
                </a:lnTo>
                <a:lnTo>
                  <a:pt x="0" y="739660"/>
                </a:lnTo>
                <a:lnTo>
                  <a:pt x="2553271" y="739660"/>
                </a:lnTo>
                <a:lnTo>
                  <a:pt x="11413325" y="739660"/>
                </a:lnTo>
                <a:lnTo>
                  <a:pt x="11413325" y="0"/>
                </a:lnTo>
                <a:close/>
              </a:path>
            </a:pathLst>
          </a:custGeom>
          <a:solidFill>
            <a:srgbClr val="5B9BD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340963" y="5241501"/>
            <a:ext cx="11413490" cy="746125"/>
            <a:chOff x="340963" y="5241501"/>
            <a:chExt cx="11413490" cy="746125"/>
          </a:xfrm>
        </p:grpSpPr>
        <p:sp>
          <p:nvSpPr>
            <p:cNvPr id="8" name="object 8" descr=""/>
            <p:cNvSpPr/>
            <p:nvPr/>
          </p:nvSpPr>
          <p:spPr>
            <a:xfrm>
              <a:off x="340956" y="5241505"/>
              <a:ext cx="11413490" cy="739775"/>
            </a:xfrm>
            <a:custGeom>
              <a:avLst/>
              <a:gdLst/>
              <a:ahLst/>
              <a:cxnLst/>
              <a:rect l="l" t="t" r="r" b="b"/>
              <a:pathLst>
                <a:path w="11413490" h="739775">
                  <a:moveTo>
                    <a:pt x="11413325" y="0"/>
                  </a:moveTo>
                  <a:lnTo>
                    <a:pt x="2553271" y="0"/>
                  </a:lnTo>
                  <a:lnTo>
                    <a:pt x="0" y="0"/>
                  </a:lnTo>
                  <a:lnTo>
                    <a:pt x="0" y="739660"/>
                  </a:lnTo>
                  <a:lnTo>
                    <a:pt x="2553271" y="739660"/>
                  </a:lnTo>
                  <a:lnTo>
                    <a:pt x="11413325" y="739660"/>
                  </a:lnTo>
                  <a:lnTo>
                    <a:pt x="11413325" y="0"/>
                  </a:lnTo>
                  <a:close/>
                </a:path>
              </a:pathLst>
            </a:custGeom>
            <a:solidFill>
              <a:srgbClr val="5B9BD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40963" y="5981159"/>
              <a:ext cx="11413490" cy="0"/>
            </a:xfrm>
            <a:custGeom>
              <a:avLst/>
              <a:gdLst/>
              <a:ahLst/>
              <a:cxnLst/>
              <a:rect l="l" t="t" r="r" b="b"/>
              <a:pathLst>
                <a:path w="11413490" h="0">
                  <a:moveTo>
                    <a:pt x="0" y="0"/>
                  </a:moveTo>
                  <a:lnTo>
                    <a:pt x="11413330" y="0"/>
                  </a:lnTo>
                </a:path>
              </a:pathLst>
            </a:custGeom>
            <a:ln w="12700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/>
          <p:nvPr/>
        </p:nvSpPr>
        <p:spPr>
          <a:xfrm>
            <a:off x="340963" y="1277029"/>
            <a:ext cx="11413490" cy="0"/>
          </a:xfrm>
          <a:custGeom>
            <a:avLst/>
            <a:gdLst/>
            <a:ahLst/>
            <a:cxnLst/>
            <a:rect l="l" t="t" r="r" b="b"/>
            <a:pathLst>
              <a:path w="11413490" h="0">
                <a:moveTo>
                  <a:pt x="0" y="0"/>
                </a:moveTo>
                <a:lnTo>
                  <a:pt x="11413330" y="0"/>
                </a:lnTo>
              </a:path>
            </a:pathLst>
          </a:custGeom>
          <a:ln w="12700">
            <a:solidFill>
              <a:srgbClr val="5B9B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141727" y="1467611"/>
            <a:ext cx="9525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Calibri"/>
                <a:cs typeface="Calibri"/>
              </a:rPr>
              <a:t>Segment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12" name="object 12" descr=""/>
          <p:cNvSpPr txBox="1"/>
          <p:nvPr/>
        </p:nvSpPr>
        <p:spPr>
          <a:xfrm>
            <a:off x="6544227" y="1467611"/>
            <a:ext cx="15595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Calibri"/>
                <a:cs typeface="Calibri"/>
              </a:rPr>
              <a:t>Characteristics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51874" y="2208276"/>
            <a:ext cx="11449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“Swing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by”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985669" y="2055876"/>
            <a:ext cx="857948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Highest</a:t>
            </a:r>
            <a:r>
              <a:rPr dirty="0" u="sng" sz="2000" spc="-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churn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Lower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LTV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Lowest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average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mobile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logins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Venmo/PayPal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least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%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closed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Lowest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deposits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33643" y="2948940"/>
            <a:ext cx="7677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“Loyal”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972969" y="2796540"/>
            <a:ext cx="804100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u="sng" sz="20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Lowest</a:t>
            </a:r>
            <a:r>
              <a:rPr dirty="0" u="sng" sz="2000" spc="-6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20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churn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center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average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age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>
                <a:latin typeface="Calibri"/>
                <a:cs typeface="Calibri"/>
              </a:rPr>
              <a:t>households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saving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%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income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12148" y="3686555"/>
            <a:ext cx="82359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“Techy”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985669" y="3534155"/>
            <a:ext cx="862393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average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mobile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logins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%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Uber/Lyft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payments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Venmo/PayPal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52096" y="4561332"/>
            <a:ext cx="11315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“Valuable”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972969" y="4256532"/>
            <a:ext cx="852741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Largest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percentage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H-</a:t>
            </a:r>
            <a:r>
              <a:rPr dirty="0" sz="2000">
                <a:latin typeface="Calibri"/>
                <a:cs typeface="Calibri"/>
              </a:rPr>
              <a:t>P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H-</a:t>
            </a:r>
            <a:r>
              <a:rPr dirty="0" sz="2000">
                <a:latin typeface="Calibri"/>
                <a:cs typeface="Calibri"/>
              </a:rPr>
              <a:t>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deposit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amounts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Lowest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amounts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check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deposits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Fulton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shortest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Younger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households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(often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Gen </a:t>
            </a:r>
            <a:r>
              <a:rPr dirty="0" sz="2000">
                <a:latin typeface="Calibri"/>
                <a:cs typeface="Calibri"/>
              </a:rPr>
              <a:t>X)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%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middle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income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02464" y="5433060"/>
            <a:ext cx="8439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-25">
                <a:latin typeface="Calibri"/>
                <a:cs typeface="Calibri"/>
              </a:rPr>
              <a:t>“Active”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985669" y="5280660"/>
            <a:ext cx="868553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average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billpay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|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Highest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average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(deposit,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investment,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loan) </a:t>
            </a:r>
            <a:r>
              <a:rPr dirty="0" sz="2000">
                <a:latin typeface="Calibri"/>
                <a:cs typeface="Calibri"/>
              </a:rPr>
              <a:t>products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household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155"/>
              <a:t> </a:t>
            </a:r>
            <a:r>
              <a:rPr dirty="0" spc="-10"/>
              <a:t>Segmentation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1696699" y="6730524"/>
            <a:ext cx="495300" cy="12700"/>
          </a:xfrm>
          <a:custGeom>
            <a:avLst/>
            <a:gdLst/>
            <a:ahLst/>
            <a:cxnLst/>
            <a:rect l="l" t="t" r="r" b="b"/>
            <a:pathLst>
              <a:path w="495300" h="12700">
                <a:moveTo>
                  <a:pt x="495300" y="12700"/>
                </a:moveTo>
                <a:lnTo>
                  <a:pt x="0" y="12700"/>
                </a:lnTo>
                <a:lnTo>
                  <a:pt x="0" y="0"/>
                </a:lnTo>
                <a:lnTo>
                  <a:pt x="495300" y="0"/>
                </a:lnTo>
                <a:lnTo>
                  <a:pt x="495300" y="12700"/>
                </a:lnTo>
                <a:close/>
              </a:path>
            </a:pathLst>
          </a:custGeom>
          <a:solidFill>
            <a:srgbClr val="5B9BD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229" y="1335316"/>
            <a:ext cx="2877568" cy="228165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6154" y="1921056"/>
            <a:ext cx="5322060" cy="3552797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7628" y="4125155"/>
            <a:ext cx="3160135" cy="217910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155"/>
              <a:t> </a:t>
            </a:r>
            <a:r>
              <a:rPr dirty="0" spc="-10"/>
              <a:t>Segmentation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749" y="2052295"/>
            <a:ext cx="4539461" cy="30547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4743" y="1995042"/>
            <a:ext cx="4520878" cy="316966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952840" y="6346624"/>
            <a:ext cx="102870" cy="40068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200" spc="-5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50">
                <a:solidFill>
                  <a:srgbClr val="898989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Customer</a:t>
            </a:r>
            <a:r>
              <a:rPr dirty="0" spc="-155"/>
              <a:t> </a:t>
            </a:r>
            <a:r>
              <a:rPr dirty="0" spc="-10"/>
              <a:t>Segmentation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0933" y="1841500"/>
            <a:ext cx="4622799" cy="31877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0196" y="1841500"/>
            <a:ext cx="4711699" cy="318770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952840" y="6346624"/>
            <a:ext cx="102870" cy="40068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200" spc="-5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200" spc="-5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114"/>
              <a:t> </a:t>
            </a:r>
            <a:r>
              <a:rPr dirty="0" spc="-10"/>
              <a:t>Recommendation:</a:t>
            </a:r>
            <a:r>
              <a:rPr dirty="0" spc="-105"/>
              <a:t> </a:t>
            </a:r>
            <a:r>
              <a:rPr dirty="0" spc="-45"/>
              <a:t>Target</a:t>
            </a:r>
            <a:r>
              <a:rPr dirty="0" spc="-114"/>
              <a:t> </a:t>
            </a:r>
            <a:r>
              <a:rPr dirty="0"/>
              <a:t>Customer</a:t>
            </a:r>
            <a:r>
              <a:rPr dirty="0" spc="-110"/>
              <a:t> </a:t>
            </a:r>
            <a:r>
              <a:rPr dirty="0" spc="-10"/>
              <a:t>Segments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333" y="1245704"/>
            <a:ext cx="1956435" cy="1097280"/>
          </a:xfrm>
          <a:prstGeom prst="rect">
            <a:avLst/>
          </a:prstGeom>
          <a:solidFill>
            <a:srgbClr val="1F4E79"/>
          </a:solidFill>
          <a:ln w="28575">
            <a:solidFill>
              <a:srgbClr val="1F4E79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67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5635" y="1245704"/>
            <a:ext cx="9457055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231140" rIns="0" bIns="0" rtlCol="0" vert="horz">
            <a:spAutoFit/>
          </a:bodyPr>
          <a:lstStyle/>
          <a:p>
            <a:pPr marL="434340" marR="1914525" indent="-342900">
              <a:lnSpc>
                <a:spcPct val="100000"/>
              </a:lnSpc>
              <a:spcBef>
                <a:spcPts val="1820"/>
              </a:spcBef>
              <a:buFont typeface="Wingdings"/>
              <a:buChar char=""/>
              <a:tabLst>
                <a:tab pos="434340" algn="l"/>
              </a:tabLst>
            </a:pPr>
            <a:r>
              <a:rPr dirty="0" sz="2000">
                <a:latin typeface="Calibri"/>
                <a:cs typeface="Calibri"/>
              </a:rPr>
              <a:t>Classify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customers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segments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customers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targeted recommendations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meet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increase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loyalty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6529" y="2503632"/>
            <a:ext cx="2497455" cy="605155"/>
            <a:chOff x="396529" y="2503632"/>
            <a:chExt cx="2497455" cy="605155"/>
          </a:xfrm>
        </p:grpSpPr>
        <p:sp>
          <p:nvSpPr>
            <p:cNvPr id="6" name="object 6" descr=""/>
            <p:cNvSpPr/>
            <p:nvPr/>
          </p:nvSpPr>
          <p:spPr>
            <a:xfrm>
              <a:off x="410817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80" h="576580">
                  <a:moveTo>
                    <a:pt x="2468880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2468880" y="576469"/>
                  </a:lnTo>
                  <a:lnTo>
                    <a:pt x="246888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0817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80" h="576580">
                  <a:moveTo>
                    <a:pt x="0" y="0"/>
                  </a:moveTo>
                  <a:lnTo>
                    <a:pt x="2468880" y="0"/>
                  </a:lnTo>
                  <a:lnTo>
                    <a:pt x="246888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25104" y="2628900"/>
            <a:ext cx="24403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452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Acquisition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370851" y="2503632"/>
            <a:ext cx="2497455" cy="605155"/>
            <a:chOff x="3370851" y="2503632"/>
            <a:chExt cx="2497455" cy="605155"/>
          </a:xfrm>
        </p:grpSpPr>
        <p:sp>
          <p:nvSpPr>
            <p:cNvPr id="10" name="object 10" descr=""/>
            <p:cNvSpPr/>
            <p:nvPr/>
          </p:nvSpPr>
          <p:spPr>
            <a:xfrm>
              <a:off x="3385139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2468879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2468879" y="576469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385139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0" y="0"/>
                  </a:moveTo>
                  <a:lnTo>
                    <a:pt x="2468880" y="0"/>
                  </a:lnTo>
                  <a:lnTo>
                    <a:pt x="246888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6345175" y="2503632"/>
            <a:ext cx="2497455" cy="605155"/>
            <a:chOff x="6345175" y="2503632"/>
            <a:chExt cx="2497455" cy="605155"/>
          </a:xfrm>
        </p:grpSpPr>
        <p:sp>
          <p:nvSpPr>
            <p:cNvPr id="13" name="object 13" descr=""/>
            <p:cNvSpPr/>
            <p:nvPr/>
          </p:nvSpPr>
          <p:spPr>
            <a:xfrm>
              <a:off x="6359462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2468879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2468879" y="576469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359462" y="2517919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0" y="0"/>
                  </a:moveTo>
                  <a:lnTo>
                    <a:pt x="2468880" y="0"/>
                  </a:lnTo>
                  <a:lnTo>
                    <a:pt x="246888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9319497" y="2503631"/>
            <a:ext cx="2497455" cy="605155"/>
            <a:chOff x="9319497" y="2503631"/>
            <a:chExt cx="2497455" cy="605155"/>
          </a:xfrm>
        </p:grpSpPr>
        <p:sp>
          <p:nvSpPr>
            <p:cNvPr id="16" name="object 16" descr=""/>
            <p:cNvSpPr/>
            <p:nvPr/>
          </p:nvSpPr>
          <p:spPr>
            <a:xfrm>
              <a:off x="9333785" y="2517918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2468879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2468879" y="576469"/>
                  </a:lnTo>
                  <a:lnTo>
                    <a:pt x="246887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333785" y="2517918"/>
              <a:ext cx="2468880" cy="576580"/>
            </a:xfrm>
            <a:custGeom>
              <a:avLst/>
              <a:gdLst/>
              <a:ahLst/>
              <a:cxnLst/>
              <a:rect l="l" t="t" r="r" b="b"/>
              <a:pathLst>
                <a:path w="2468879" h="576580">
                  <a:moveTo>
                    <a:pt x="0" y="0"/>
                  </a:moveTo>
                  <a:lnTo>
                    <a:pt x="2468880" y="0"/>
                  </a:lnTo>
                  <a:lnTo>
                    <a:pt x="246888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399426" y="2628900"/>
            <a:ext cx="83889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0">
              <a:lnSpc>
                <a:spcPct val="100000"/>
              </a:lnSpc>
              <a:spcBef>
                <a:spcPts val="100"/>
              </a:spcBef>
              <a:tabLst>
                <a:tab pos="3556000" algn="l"/>
                <a:tab pos="6662420" algn="l"/>
              </a:tabLst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Servicing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Retention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89557" y="3181603"/>
            <a:ext cx="2259965" cy="1391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4965" marR="5080" indent="-342900">
              <a:lnSpc>
                <a:spcPct val="99400"/>
              </a:lnSpc>
              <a:spcBef>
                <a:spcPts val="11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Identify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execute </a:t>
            </a:r>
            <a:r>
              <a:rPr dirty="0" sz="1800">
                <a:latin typeface="Calibri"/>
                <a:cs typeface="Calibri"/>
              </a:rPr>
              <a:t>campaigns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targeting customers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with </a:t>
            </a:r>
            <a:r>
              <a:rPr dirty="0" sz="1800" spc="-10">
                <a:latin typeface="Calibri"/>
                <a:cs typeface="Calibri"/>
              </a:rPr>
              <a:t>characteristics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 spc="-30">
                <a:latin typeface="Calibri"/>
                <a:cs typeface="Calibri"/>
              </a:rPr>
              <a:t>low-</a:t>
            </a:r>
            <a:r>
              <a:rPr dirty="0" sz="1800">
                <a:latin typeface="Calibri"/>
                <a:cs typeface="Calibri"/>
              </a:rPr>
              <a:t>churn </a:t>
            </a:r>
            <a:r>
              <a:rPr dirty="0" sz="1800" spc="-10">
                <a:latin typeface="Calibri"/>
                <a:cs typeface="Calibri"/>
              </a:rPr>
              <a:t>segments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462421" y="3181603"/>
            <a:ext cx="2089785" cy="25736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5600" marR="23495" indent="-342900">
              <a:lnSpc>
                <a:spcPct val="99400"/>
              </a:lnSpc>
              <a:spcBef>
                <a:spcPts val="11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Provide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services </a:t>
            </a:r>
            <a:r>
              <a:rPr dirty="0" sz="1800">
                <a:latin typeface="Calibri"/>
                <a:cs typeface="Calibri"/>
              </a:rPr>
              <a:t>tailored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customer’s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needs 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segment traits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ct val="100400"/>
              </a:lnSpc>
              <a:spcBef>
                <a:spcPts val="640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 sz="1800" spc="-10">
                <a:latin typeface="Calibri"/>
                <a:cs typeface="Calibri"/>
              </a:rPr>
              <a:t>Recommend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or </a:t>
            </a:r>
            <a:r>
              <a:rPr dirty="0" sz="1800" spc="-10">
                <a:latin typeface="Calibri"/>
                <a:cs typeface="Calibri"/>
              </a:rPr>
              <a:t>cross-</a:t>
            </a:r>
            <a:r>
              <a:rPr dirty="0" sz="1800">
                <a:latin typeface="Calibri"/>
                <a:cs typeface="Calibri"/>
              </a:rPr>
              <a:t>sell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products </a:t>
            </a:r>
            <a:r>
              <a:rPr dirty="0" sz="1800">
                <a:latin typeface="Calibri"/>
                <a:cs typeface="Calibri"/>
              </a:rPr>
              <a:t>associated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with </a:t>
            </a:r>
            <a:r>
              <a:rPr dirty="0" sz="1800" spc="-10">
                <a:latin typeface="Calibri"/>
                <a:cs typeface="Calibri"/>
              </a:rPr>
              <a:t>loyalty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408642" y="3181603"/>
            <a:ext cx="202438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Build</a:t>
            </a:r>
            <a:r>
              <a:rPr dirty="0" sz="1800" spc="-10">
                <a:latin typeface="Calibri"/>
                <a:cs typeface="Calibri"/>
              </a:rPr>
              <a:t> in-</a:t>
            </a:r>
            <a:r>
              <a:rPr dirty="0" sz="1800" spc="-20">
                <a:latin typeface="Calibri"/>
                <a:cs typeface="Calibri"/>
              </a:rPr>
              <a:t>depth </a:t>
            </a:r>
            <a:r>
              <a:rPr dirty="0" sz="1800" spc="-10">
                <a:latin typeface="Calibri"/>
                <a:cs typeface="Calibri"/>
              </a:rPr>
              <a:t>relationships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with </a:t>
            </a:r>
            <a:r>
              <a:rPr dirty="0" sz="1800" spc="-10">
                <a:latin typeface="Calibri"/>
                <a:cs typeface="Calibri"/>
              </a:rPr>
              <a:t>customers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via </a:t>
            </a:r>
            <a:r>
              <a:rPr dirty="0" sz="1800" spc="-10">
                <a:latin typeface="Calibri"/>
                <a:cs typeface="Calibri"/>
              </a:rPr>
              <a:t>analytics-</a:t>
            </a:r>
            <a:r>
              <a:rPr dirty="0" sz="1800" spc="-20">
                <a:latin typeface="Calibri"/>
                <a:cs typeface="Calibri"/>
              </a:rPr>
              <a:t>based </a:t>
            </a:r>
            <a:r>
              <a:rPr dirty="0" sz="1800" spc="-10">
                <a:latin typeface="Calibri"/>
                <a:cs typeface="Calibri"/>
              </a:rPr>
              <a:t>personalized services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412523" y="3154171"/>
            <a:ext cx="2305050" cy="13912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5600" marR="5080" indent="-342900">
              <a:lnSpc>
                <a:spcPct val="99400"/>
              </a:lnSpc>
              <a:spcBef>
                <a:spcPts val="1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Prioritize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converting </a:t>
            </a:r>
            <a:r>
              <a:rPr dirty="0" sz="1800">
                <a:latin typeface="Calibri"/>
                <a:cs typeface="Calibri"/>
              </a:rPr>
              <a:t>“swing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by” </a:t>
            </a:r>
            <a:r>
              <a:rPr dirty="0" sz="1800" spc="-10">
                <a:latin typeface="Calibri"/>
                <a:cs typeface="Calibri"/>
              </a:rPr>
              <a:t>customers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other </a:t>
            </a:r>
            <a:r>
              <a:rPr dirty="0" sz="1800">
                <a:latin typeface="Calibri"/>
                <a:cs typeface="Calibri"/>
              </a:rPr>
              <a:t>segments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lower </a:t>
            </a:r>
            <a:r>
              <a:rPr dirty="0" sz="1800" spc="-10">
                <a:latin typeface="Calibri"/>
                <a:cs typeface="Calibri"/>
              </a:rPr>
              <a:t>churn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941872" y="2471536"/>
            <a:ext cx="365760" cy="3657600"/>
            <a:chOff x="2941872" y="2471536"/>
            <a:chExt cx="365760" cy="3657600"/>
          </a:xfrm>
        </p:grpSpPr>
        <p:sp>
          <p:nvSpPr>
            <p:cNvPr id="24" name="object 24" descr=""/>
            <p:cNvSpPr/>
            <p:nvPr/>
          </p:nvSpPr>
          <p:spPr>
            <a:xfrm>
              <a:off x="3114267" y="2471536"/>
              <a:ext cx="0" cy="3657600"/>
            </a:xfrm>
            <a:custGeom>
              <a:avLst/>
              <a:gdLst/>
              <a:ahLst/>
              <a:cxnLst/>
              <a:rect l="l" t="t" r="r" b="b"/>
              <a:pathLst>
                <a:path w="0" h="3657600">
                  <a:moveTo>
                    <a:pt x="0" y="3657600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941872" y="4003744"/>
              <a:ext cx="365760" cy="640080"/>
            </a:xfrm>
            <a:custGeom>
              <a:avLst/>
              <a:gdLst/>
              <a:ahLst/>
              <a:cxnLst/>
              <a:rect l="l" t="t" r="r" b="b"/>
              <a:pathLst>
                <a:path w="365760" h="640079">
                  <a:moveTo>
                    <a:pt x="0" y="0"/>
                  </a:moveTo>
                  <a:lnTo>
                    <a:pt x="0" y="640080"/>
                  </a:lnTo>
                  <a:lnTo>
                    <a:pt x="365759" y="32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5928455" y="2471536"/>
            <a:ext cx="365760" cy="3657600"/>
            <a:chOff x="5928455" y="2471536"/>
            <a:chExt cx="365760" cy="3657600"/>
          </a:xfrm>
        </p:grpSpPr>
        <p:sp>
          <p:nvSpPr>
            <p:cNvPr id="27" name="object 27" descr=""/>
            <p:cNvSpPr/>
            <p:nvPr/>
          </p:nvSpPr>
          <p:spPr>
            <a:xfrm>
              <a:off x="6089380" y="2471536"/>
              <a:ext cx="0" cy="3657600"/>
            </a:xfrm>
            <a:custGeom>
              <a:avLst/>
              <a:gdLst/>
              <a:ahLst/>
              <a:cxnLst/>
              <a:rect l="l" t="t" r="r" b="b"/>
              <a:pathLst>
                <a:path w="0" h="3657600">
                  <a:moveTo>
                    <a:pt x="0" y="3657600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928455" y="4003746"/>
              <a:ext cx="365760" cy="640080"/>
            </a:xfrm>
            <a:custGeom>
              <a:avLst/>
              <a:gdLst/>
              <a:ahLst/>
              <a:cxnLst/>
              <a:rect l="l" t="t" r="r" b="b"/>
              <a:pathLst>
                <a:path w="365760" h="640079">
                  <a:moveTo>
                    <a:pt x="0" y="0"/>
                  </a:moveTo>
                  <a:lnTo>
                    <a:pt x="0" y="640080"/>
                  </a:lnTo>
                  <a:lnTo>
                    <a:pt x="365760" y="32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8896492" y="2471536"/>
            <a:ext cx="365760" cy="3657600"/>
            <a:chOff x="8896492" y="2471536"/>
            <a:chExt cx="365760" cy="3657600"/>
          </a:xfrm>
        </p:grpSpPr>
        <p:sp>
          <p:nvSpPr>
            <p:cNvPr id="30" name="object 30" descr=""/>
            <p:cNvSpPr/>
            <p:nvPr/>
          </p:nvSpPr>
          <p:spPr>
            <a:xfrm>
              <a:off x="9064494" y="2471536"/>
              <a:ext cx="0" cy="3657600"/>
            </a:xfrm>
            <a:custGeom>
              <a:avLst/>
              <a:gdLst/>
              <a:ahLst/>
              <a:cxnLst/>
              <a:rect l="l" t="t" r="r" b="b"/>
              <a:pathLst>
                <a:path w="0" h="3657600">
                  <a:moveTo>
                    <a:pt x="0" y="3657600"/>
                  </a:moveTo>
                  <a:lnTo>
                    <a:pt x="1" y="0"/>
                  </a:lnTo>
                </a:path>
              </a:pathLst>
            </a:custGeom>
            <a:ln w="12700">
              <a:solidFill>
                <a:srgbClr val="BFBFB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896492" y="4003744"/>
              <a:ext cx="365760" cy="640080"/>
            </a:xfrm>
            <a:custGeom>
              <a:avLst/>
              <a:gdLst/>
              <a:ahLst/>
              <a:cxnLst/>
              <a:rect l="l" t="t" r="r" b="b"/>
              <a:pathLst>
                <a:path w="365759" h="640079">
                  <a:moveTo>
                    <a:pt x="0" y="0"/>
                  </a:moveTo>
                  <a:lnTo>
                    <a:pt x="0" y="640080"/>
                  </a:lnTo>
                  <a:lnTo>
                    <a:pt x="365759" y="32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D7E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Feature</a:t>
            </a:r>
            <a:r>
              <a:rPr dirty="0" spc="-85"/>
              <a:t> </a:t>
            </a:r>
            <a:r>
              <a:rPr dirty="0"/>
              <a:t>Scoring</a:t>
            </a:r>
            <a:r>
              <a:rPr dirty="0" spc="-85"/>
              <a:t> </a:t>
            </a:r>
            <a:r>
              <a:rPr dirty="0" spc="-10"/>
              <a:t>Procedure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333" y="1245704"/>
            <a:ext cx="1956435" cy="1097280"/>
          </a:xfrm>
          <a:prstGeom prst="rect">
            <a:avLst/>
          </a:prstGeom>
          <a:solidFill>
            <a:srgbClr val="1F4E79"/>
          </a:solidFill>
          <a:ln w="28575">
            <a:solidFill>
              <a:srgbClr val="1F4E79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67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5635" y="1245704"/>
            <a:ext cx="9457055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endParaRPr sz="2000">
              <a:latin typeface="Times New Roman"/>
              <a:cs typeface="Times New Roman"/>
            </a:endParaRPr>
          </a:p>
          <a:p>
            <a:pPr marL="433705" indent="-342265">
              <a:lnSpc>
                <a:spcPct val="100000"/>
              </a:lnSpc>
              <a:buFont typeface="Wingdings"/>
              <a:buChar char=""/>
              <a:tabLst>
                <a:tab pos="433705" algn="l"/>
              </a:tabLst>
            </a:pP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features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improvements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accuracy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nonlinear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3554" y="2594119"/>
            <a:ext cx="11155680" cy="64008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1536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10"/>
              </a:spcBef>
            </a:pPr>
            <a:r>
              <a:rPr dirty="0" sz="2000">
                <a:latin typeface="Calibri"/>
                <a:cs typeface="Calibri"/>
              </a:rPr>
              <a:t>125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Choose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=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7750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Columns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13554" y="3354830"/>
            <a:ext cx="11155680" cy="64008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2000">
                <a:latin typeface="Calibri"/>
                <a:cs typeface="Calibri"/>
              </a:rPr>
              <a:t>Fit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7750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Random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Forests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(Each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column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124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models)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13554" y="4115541"/>
            <a:ext cx="11155680" cy="64008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1536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210"/>
              </a:spcBef>
            </a:pPr>
            <a:r>
              <a:rPr dirty="0" sz="2000">
                <a:latin typeface="Calibri"/>
                <a:cs typeface="Calibri"/>
              </a:rPr>
              <a:t>Distribution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average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accuracies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column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participated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3554" y="4876252"/>
            <a:ext cx="11155680" cy="64008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2540" rIns="0" bIns="0" rtlCol="0" vert="horz">
            <a:spAutoFit/>
          </a:bodyPr>
          <a:lstStyle/>
          <a:p>
            <a:pPr marL="4977130" marR="369570" indent="-4600575">
              <a:lnSpc>
                <a:spcPct val="100000"/>
              </a:lnSpc>
              <a:spcBef>
                <a:spcPts val="20"/>
              </a:spcBef>
            </a:pPr>
            <a:r>
              <a:rPr dirty="0" sz="2000">
                <a:latin typeface="Calibri"/>
                <a:cs typeface="Calibri"/>
              </a:rPr>
              <a:t>Scored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column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equally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weighted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average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median,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90</a:t>
            </a:r>
            <a:r>
              <a:rPr dirty="0" baseline="25641" sz="1950">
                <a:latin typeface="Calibri"/>
                <a:cs typeface="Calibri"/>
              </a:rPr>
              <a:t>th</a:t>
            </a:r>
            <a:r>
              <a:rPr dirty="0" baseline="25641" sz="1950" spc="1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percentile,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max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distribution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3554" y="5636961"/>
            <a:ext cx="11155680" cy="64008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1562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30"/>
              </a:spcBef>
            </a:pPr>
            <a:r>
              <a:rPr dirty="0" sz="2000">
                <a:latin typeface="Calibri"/>
                <a:cs typeface="Calibri"/>
              </a:rPr>
              <a:t>Graphed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column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scores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picked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natural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cutoff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point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75340" y="2968452"/>
            <a:ext cx="243204" cy="605790"/>
          </a:xfrm>
          <a:custGeom>
            <a:avLst/>
            <a:gdLst/>
            <a:ahLst/>
            <a:cxnLst/>
            <a:rect l="l" t="t" r="r" b="b"/>
            <a:pathLst>
              <a:path w="243204" h="605789">
                <a:moveTo>
                  <a:pt x="144462" y="520064"/>
                </a:moveTo>
                <a:lnTo>
                  <a:pt x="144462" y="605789"/>
                </a:lnTo>
                <a:lnTo>
                  <a:pt x="201612" y="577214"/>
                </a:lnTo>
                <a:lnTo>
                  <a:pt x="158750" y="577214"/>
                </a:lnTo>
                <a:lnTo>
                  <a:pt x="158750" y="548639"/>
                </a:lnTo>
                <a:lnTo>
                  <a:pt x="201612" y="548639"/>
                </a:lnTo>
                <a:lnTo>
                  <a:pt x="144462" y="520064"/>
                </a:lnTo>
                <a:close/>
              </a:path>
              <a:path w="243204" h="605789">
                <a:moveTo>
                  <a:pt x="242887" y="0"/>
                </a:moveTo>
                <a:lnTo>
                  <a:pt x="0" y="0"/>
                </a:lnTo>
                <a:lnTo>
                  <a:pt x="0" y="577214"/>
                </a:lnTo>
                <a:lnTo>
                  <a:pt x="144462" y="577214"/>
                </a:lnTo>
                <a:lnTo>
                  <a:pt x="144462" y="562927"/>
                </a:lnTo>
                <a:lnTo>
                  <a:pt x="28575" y="562927"/>
                </a:lnTo>
                <a:lnTo>
                  <a:pt x="14287" y="548639"/>
                </a:lnTo>
                <a:lnTo>
                  <a:pt x="28575" y="548639"/>
                </a:lnTo>
                <a:lnTo>
                  <a:pt x="28575" y="28575"/>
                </a:lnTo>
                <a:lnTo>
                  <a:pt x="14287" y="28575"/>
                </a:lnTo>
                <a:lnTo>
                  <a:pt x="28575" y="14287"/>
                </a:lnTo>
                <a:lnTo>
                  <a:pt x="242887" y="14287"/>
                </a:lnTo>
                <a:lnTo>
                  <a:pt x="242887" y="0"/>
                </a:lnTo>
                <a:close/>
              </a:path>
              <a:path w="243204" h="605789">
                <a:moveTo>
                  <a:pt x="201612" y="548639"/>
                </a:moveTo>
                <a:lnTo>
                  <a:pt x="158750" y="548639"/>
                </a:lnTo>
                <a:lnTo>
                  <a:pt x="158750" y="577214"/>
                </a:lnTo>
                <a:lnTo>
                  <a:pt x="201612" y="577214"/>
                </a:lnTo>
                <a:lnTo>
                  <a:pt x="230187" y="562927"/>
                </a:lnTo>
                <a:lnTo>
                  <a:pt x="201612" y="548639"/>
                </a:lnTo>
                <a:close/>
              </a:path>
              <a:path w="243204" h="605789">
                <a:moveTo>
                  <a:pt x="28575" y="548639"/>
                </a:moveTo>
                <a:lnTo>
                  <a:pt x="14287" y="548639"/>
                </a:lnTo>
                <a:lnTo>
                  <a:pt x="28575" y="562927"/>
                </a:lnTo>
                <a:lnTo>
                  <a:pt x="28575" y="548639"/>
                </a:lnTo>
                <a:close/>
              </a:path>
              <a:path w="243204" h="605789">
                <a:moveTo>
                  <a:pt x="144462" y="548639"/>
                </a:moveTo>
                <a:lnTo>
                  <a:pt x="28575" y="548639"/>
                </a:lnTo>
                <a:lnTo>
                  <a:pt x="28575" y="562927"/>
                </a:lnTo>
                <a:lnTo>
                  <a:pt x="144462" y="562927"/>
                </a:lnTo>
                <a:lnTo>
                  <a:pt x="144462" y="548639"/>
                </a:lnTo>
                <a:close/>
              </a:path>
              <a:path w="243204" h="605789">
                <a:moveTo>
                  <a:pt x="28575" y="14287"/>
                </a:moveTo>
                <a:lnTo>
                  <a:pt x="14287" y="28575"/>
                </a:lnTo>
                <a:lnTo>
                  <a:pt x="28575" y="28575"/>
                </a:lnTo>
                <a:lnTo>
                  <a:pt x="28575" y="14287"/>
                </a:lnTo>
                <a:close/>
              </a:path>
              <a:path w="243204" h="605789">
                <a:moveTo>
                  <a:pt x="242887" y="14287"/>
                </a:moveTo>
                <a:lnTo>
                  <a:pt x="28575" y="14287"/>
                </a:lnTo>
                <a:lnTo>
                  <a:pt x="28575" y="28575"/>
                </a:lnTo>
                <a:lnTo>
                  <a:pt x="242887" y="28575"/>
                </a:lnTo>
                <a:lnTo>
                  <a:pt x="242887" y="14287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75340" y="3739465"/>
            <a:ext cx="243204" cy="605790"/>
          </a:xfrm>
          <a:custGeom>
            <a:avLst/>
            <a:gdLst/>
            <a:ahLst/>
            <a:cxnLst/>
            <a:rect l="l" t="t" r="r" b="b"/>
            <a:pathLst>
              <a:path w="243204" h="605789">
                <a:moveTo>
                  <a:pt x="144462" y="520064"/>
                </a:moveTo>
                <a:lnTo>
                  <a:pt x="144462" y="605789"/>
                </a:lnTo>
                <a:lnTo>
                  <a:pt x="201612" y="577214"/>
                </a:lnTo>
                <a:lnTo>
                  <a:pt x="158750" y="577214"/>
                </a:lnTo>
                <a:lnTo>
                  <a:pt x="158750" y="548639"/>
                </a:lnTo>
                <a:lnTo>
                  <a:pt x="201612" y="548639"/>
                </a:lnTo>
                <a:lnTo>
                  <a:pt x="144462" y="520064"/>
                </a:lnTo>
                <a:close/>
              </a:path>
              <a:path w="243204" h="605789">
                <a:moveTo>
                  <a:pt x="242887" y="0"/>
                </a:moveTo>
                <a:lnTo>
                  <a:pt x="0" y="0"/>
                </a:lnTo>
                <a:lnTo>
                  <a:pt x="0" y="577214"/>
                </a:lnTo>
                <a:lnTo>
                  <a:pt x="144462" y="577214"/>
                </a:lnTo>
                <a:lnTo>
                  <a:pt x="144462" y="562927"/>
                </a:lnTo>
                <a:lnTo>
                  <a:pt x="28575" y="562927"/>
                </a:lnTo>
                <a:lnTo>
                  <a:pt x="14287" y="548639"/>
                </a:lnTo>
                <a:lnTo>
                  <a:pt x="28575" y="548639"/>
                </a:lnTo>
                <a:lnTo>
                  <a:pt x="28575" y="28575"/>
                </a:lnTo>
                <a:lnTo>
                  <a:pt x="14287" y="28575"/>
                </a:lnTo>
                <a:lnTo>
                  <a:pt x="28575" y="14287"/>
                </a:lnTo>
                <a:lnTo>
                  <a:pt x="242887" y="14287"/>
                </a:lnTo>
                <a:lnTo>
                  <a:pt x="242887" y="0"/>
                </a:lnTo>
                <a:close/>
              </a:path>
              <a:path w="243204" h="605789">
                <a:moveTo>
                  <a:pt x="201612" y="548639"/>
                </a:moveTo>
                <a:lnTo>
                  <a:pt x="158750" y="548639"/>
                </a:lnTo>
                <a:lnTo>
                  <a:pt x="158750" y="577214"/>
                </a:lnTo>
                <a:lnTo>
                  <a:pt x="201612" y="577214"/>
                </a:lnTo>
                <a:lnTo>
                  <a:pt x="230187" y="562927"/>
                </a:lnTo>
                <a:lnTo>
                  <a:pt x="201612" y="548639"/>
                </a:lnTo>
                <a:close/>
              </a:path>
              <a:path w="243204" h="605789">
                <a:moveTo>
                  <a:pt x="28575" y="548639"/>
                </a:moveTo>
                <a:lnTo>
                  <a:pt x="14287" y="548639"/>
                </a:lnTo>
                <a:lnTo>
                  <a:pt x="28575" y="562927"/>
                </a:lnTo>
                <a:lnTo>
                  <a:pt x="28575" y="548639"/>
                </a:lnTo>
                <a:close/>
              </a:path>
              <a:path w="243204" h="605789">
                <a:moveTo>
                  <a:pt x="144462" y="548639"/>
                </a:moveTo>
                <a:lnTo>
                  <a:pt x="28575" y="548639"/>
                </a:lnTo>
                <a:lnTo>
                  <a:pt x="28575" y="562927"/>
                </a:lnTo>
                <a:lnTo>
                  <a:pt x="144462" y="562927"/>
                </a:lnTo>
                <a:lnTo>
                  <a:pt x="144462" y="548639"/>
                </a:lnTo>
                <a:close/>
              </a:path>
              <a:path w="243204" h="605789">
                <a:moveTo>
                  <a:pt x="28575" y="14287"/>
                </a:moveTo>
                <a:lnTo>
                  <a:pt x="14287" y="28575"/>
                </a:lnTo>
                <a:lnTo>
                  <a:pt x="28575" y="28575"/>
                </a:lnTo>
                <a:lnTo>
                  <a:pt x="28575" y="14287"/>
                </a:lnTo>
                <a:close/>
              </a:path>
              <a:path w="243204" h="605789">
                <a:moveTo>
                  <a:pt x="242887" y="14287"/>
                </a:moveTo>
                <a:lnTo>
                  <a:pt x="28575" y="14287"/>
                </a:lnTo>
                <a:lnTo>
                  <a:pt x="28575" y="28575"/>
                </a:lnTo>
                <a:lnTo>
                  <a:pt x="242887" y="28575"/>
                </a:lnTo>
                <a:lnTo>
                  <a:pt x="242887" y="14287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75340" y="4503518"/>
            <a:ext cx="243204" cy="605790"/>
          </a:xfrm>
          <a:custGeom>
            <a:avLst/>
            <a:gdLst/>
            <a:ahLst/>
            <a:cxnLst/>
            <a:rect l="l" t="t" r="r" b="b"/>
            <a:pathLst>
              <a:path w="243204" h="605789">
                <a:moveTo>
                  <a:pt x="144462" y="520064"/>
                </a:moveTo>
                <a:lnTo>
                  <a:pt x="144462" y="605789"/>
                </a:lnTo>
                <a:lnTo>
                  <a:pt x="201612" y="577214"/>
                </a:lnTo>
                <a:lnTo>
                  <a:pt x="158750" y="577214"/>
                </a:lnTo>
                <a:lnTo>
                  <a:pt x="158750" y="548639"/>
                </a:lnTo>
                <a:lnTo>
                  <a:pt x="201612" y="548639"/>
                </a:lnTo>
                <a:lnTo>
                  <a:pt x="144462" y="520064"/>
                </a:lnTo>
                <a:close/>
              </a:path>
              <a:path w="243204" h="605789">
                <a:moveTo>
                  <a:pt x="242887" y="0"/>
                </a:moveTo>
                <a:lnTo>
                  <a:pt x="0" y="0"/>
                </a:lnTo>
                <a:lnTo>
                  <a:pt x="0" y="577214"/>
                </a:lnTo>
                <a:lnTo>
                  <a:pt x="144462" y="577214"/>
                </a:lnTo>
                <a:lnTo>
                  <a:pt x="144462" y="562927"/>
                </a:lnTo>
                <a:lnTo>
                  <a:pt x="28575" y="562927"/>
                </a:lnTo>
                <a:lnTo>
                  <a:pt x="14287" y="548639"/>
                </a:lnTo>
                <a:lnTo>
                  <a:pt x="28575" y="548639"/>
                </a:lnTo>
                <a:lnTo>
                  <a:pt x="28575" y="28575"/>
                </a:lnTo>
                <a:lnTo>
                  <a:pt x="14287" y="28575"/>
                </a:lnTo>
                <a:lnTo>
                  <a:pt x="28575" y="14287"/>
                </a:lnTo>
                <a:lnTo>
                  <a:pt x="242887" y="14287"/>
                </a:lnTo>
                <a:lnTo>
                  <a:pt x="242887" y="0"/>
                </a:lnTo>
                <a:close/>
              </a:path>
              <a:path w="243204" h="605789">
                <a:moveTo>
                  <a:pt x="201612" y="548639"/>
                </a:moveTo>
                <a:lnTo>
                  <a:pt x="158750" y="548639"/>
                </a:lnTo>
                <a:lnTo>
                  <a:pt x="158750" y="577214"/>
                </a:lnTo>
                <a:lnTo>
                  <a:pt x="201612" y="577214"/>
                </a:lnTo>
                <a:lnTo>
                  <a:pt x="230187" y="562927"/>
                </a:lnTo>
                <a:lnTo>
                  <a:pt x="201612" y="548639"/>
                </a:lnTo>
                <a:close/>
              </a:path>
              <a:path w="243204" h="605789">
                <a:moveTo>
                  <a:pt x="28575" y="548639"/>
                </a:moveTo>
                <a:lnTo>
                  <a:pt x="14287" y="548639"/>
                </a:lnTo>
                <a:lnTo>
                  <a:pt x="28575" y="562927"/>
                </a:lnTo>
                <a:lnTo>
                  <a:pt x="28575" y="548639"/>
                </a:lnTo>
                <a:close/>
              </a:path>
              <a:path w="243204" h="605789">
                <a:moveTo>
                  <a:pt x="144462" y="548639"/>
                </a:moveTo>
                <a:lnTo>
                  <a:pt x="28575" y="548639"/>
                </a:lnTo>
                <a:lnTo>
                  <a:pt x="28575" y="562927"/>
                </a:lnTo>
                <a:lnTo>
                  <a:pt x="144462" y="562927"/>
                </a:lnTo>
                <a:lnTo>
                  <a:pt x="144462" y="548639"/>
                </a:lnTo>
                <a:close/>
              </a:path>
              <a:path w="243204" h="605789">
                <a:moveTo>
                  <a:pt x="28575" y="14287"/>
                </a:moveTo>
                <a:lnTo>
                  <a:pt x="14287" y="28575"/>
                </a:lnTo>
                <a:lnTo>
                  <a:pt x="28575" y="28575"/>
                </a:lnTo>
                <a:lnTo>
                  <a:pt x="28575" y="14287"/>
                </a:lnTo>
                <a:close/>
              </a:path>
              <a:path w="243204" h="605789">
                <a:moveTo>
                  <a:pt x="242887" y="14287"/>
                </a:moveTo>
                <a:lnTo>
                  <a:pt x="28575" y="14287"/>
                </a:lnTo>
                <a:lnTo>
                  <a:pt x="28575" y="28575"/>
                </a:lnTo>
                <a:lnTo>
                  <a:pt x="242887" y="28575"/>
                </a:lnTo>
                <a:lnTo>
                  <a:pt x="242887" y="14287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75340" y="5242360"/>
            <a:ext cx="243204" cy="605790"/>
          </a:xfrm>
          <a:custGeom>
            <a:avLst/>
            <a:gdLst/>
            <a:ahLst/>
            <a:cxnLst/>
            <a:rect l="l" t="t" r="r" b="b"/>
            <a:pathLst>
              <a:path w="243204" h="605789">
                <a:moveTo>
                  <a:pt x="144462" y="520065"/>
                </a:moveTo>
                <a:lnTo>
                  <a:pt x="144462" y="605790"/>
                </a:lnTo>
                <a:lnTo>
                  <a:pt x="201612" y="577215"/>
                </a:lnTo>
                <a:lnTo>
                  <a:pt x="158750" y="577215"/>
                </a:lnTo>
                <a:lnTo>
                  <a:pt x="158750" y="548640"/>
                </a:lnTo>
                <a:lnTo>
                  <a:pt x="201612" y="548640"/>
                </a:lnTo>
                <a:lnTo>
                  <a:pt x="144462" y="520065"/>
                </a:lnTo>
                <a:close/>
              </a:path>
              <a:path w="243204" h="605789">
                <a:moveTo>
                  <a:pt x="242887" y="0"/>
                </a:moveTo>
                <a:lnTo>
                  <a:pt x="0" y="0"/>
                </a:lnTo>
                <a:lnTo>
                  <a:pt x="0" y="577215"/>
                </a:lnTo>
                <a:lnTo>
                  <a:pt x="144462" y="577215"/>
                </a:lnTo>
                <a:lnTo>
                  <a:pt x="144462" y="562928"/>
                </a:lnTo>
                <a:lnTo>
                  <a:pt x="28575" y="562928"/>
                </a:lnTo>
                <a:lnTo>
                  <a:pt x="14287" y="548640"/>
                </a:lnTo>
                <a:lnTo>
                  <a:pt x="28575" y="548640"/>
                </a:lnTo>
                <a:lnTo>
                  <a:pt x="28575" y="28574"/>
                </a:lnTo>
                <a:lnTo>
                  <a:pt x="14287" y="28574"/>
                </a:lnTo>
                <a:lnTo>
                  <a:pt x="28575" y="14287"/>
                </a:lnTo>
                <a:lnTo>
                  <a:pt x="242887" y="14287"/>
                </a:lnTo>
                <a:lnTo>
                  <a:pt x="242887" y="0"/>
                </a:lnTo>
                <a:close/>
              </a:path>
              <a:path w="243204" h="605789">
                <a:moveTo>
                  <a:pt x="201612" y="548640"/>
                </a:moveTo>
                <a:lnTo>
                  <a:pt x="158750" y="548640"/>
                </a:lnTo>
                <a:lnTo>
                  <a:pt x="158750" y="577215"/>
                </a:lnTo>
                <a:lnTo>
                  <a:pt x="201612" y="577215"/>
                </a:lnTo>
                <a:lnTo>
                  <a:pt x="230187" y="562928"/>
                </a:lnTo>
                <a:lnTo>
                  <a:pt x="201612" y="548640"/>
                </a:lnTo>
                <a:close/>
              </a:path>
              <a:path w="243204" h="605789">
                <a:moveTo>
                  <a:pt x="28575" y="548640"/>
                </a:moveTo>
                <a:lnTo>
                  <a:pt x="14287" y="548640"/>
                </a:lnTo>
                <a:lnTo>
                  <a:pt x="28575" y="562928"/>
                </a:lnTo>
                <a:lnTo>
                  <a:pt x="28575" y="548640"/>
                </a:lnTo>
                <a:close/>
              </a:path>
              <a:path w="243204" h="605789">
                <a:moveTo>
                  <a:pt x="144462" y="548640"/>
                </a:moveTo>
                <a:lnTo>
                  <a:pt x="28575" y="548640"/>
                </a:lnTo>
                <a:lnTo>
                  <a:pt x="28575" y="562928"/>
                </a:lnTo>
                <a:lnTo>
                  <a:pt x="144462" y="562928"/>
                </a:lnTo>
                <a:lnTo>
                  <a:pt x="144462" y="548640"/>
                </a:lnTo>
                <a:close/>
              </a:path>
              <a:path w="243204" h="605789">
                <a:moveTo>
                  <a:pt x="28575" y="14287"/>
                </a:moveTo>
                <a:lnTo>
                  <a:pt x="14287" y="28574"/>
                </a:lnTo>
                <a:lnTo>
                  <a:pt x="28575" y="28574"/>
                </a:lnTo>
                <a:lnTo>
                  <a:pt x="28575" y="14287"/>
                </a:lnTo>
                <a:close/>
              </a:path>
              <a:path w="243204" h="605789">
                <a:moveTo>
                  <a:pt x="242887" y="14287"/>
                </a:moveTo>
                <a:lnTo>
                  <a:pt x="28575" y="14287"/>
                </a:lnTo>
                <a:lnTo>
                  <a:pt x="28575" y="28574"/>
                </a:lnTo>
                <a:lnTo>
                  <a:pt x="242887" y="28574"/>
                </a:lnTo>
                <a:lnTo>
                  <a:pt x="242887" y="14287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Feature/Column</a:t>
            </a:r>
            <a:r>
              <a:rPr dirty="0" spc="-75"/>
              <a:t> </a:t>
            </a:r>
            <a:r>
              <a:rPr dirty="0"/>
              <a:t>Scoring</a:t>
            </a:r>
            <a:r>
              <a:rPr dirty="0" spc="-75"/>
              <a:t> </a:t>
            </a:r>
            <a:r>
              <a:rPr dirty="0" spc="-10"/>
              <a:t>Results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79" y="2163815"/>
            <a:ext cx="5531893" cy="15735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605" y="4655710"/>
            <a:ext cx="5559369" cy="1582449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80713" y="1454143"/>
            <a:ext cx="5606415" cy="605155"/>
            <a:chOff x="180713" y="1454143"/>
            <a:chExt cx="5606415" cy="605155"/>
          </a:xfrm>
        </p:grpSpPr>
        <p:sp>
          <p:nvSpPr>
            <p:cNvPr id="6" name="object 6" descr=""/>
            <p:cNvSpPr/>
            <p:nvPr/>
          </p:nvSpPr>
          <p:spPr>
            <a:xfrm>
              <a:off x="195001" y="1468431"/>
              <a:ext cx="5577840" cy="576580"/>
            </a:xfrm>
            <a:custGeom>
              <a:avLst/>
              <a:gdLst/>
              <a:ahLst/>
              <a:cxnLst/>
              <a:rect l="l" t="t" r="r" b="b"/>
              <a:pathLst>
                <a:path w="5577840" h="576580">
                  <a:moveTo>
                    <a:pt x="5577839" y="0"/>
                  </a:moveTo>
                  <a:lnTo>
                    <a:pt x="0" y="0"/>
                  </a:lnTo>
                  <a:lnTo>
                    <a:pt x="0" y="576468"/>
                  </a:lnTo>
                  <a:lnTo>
                    <a:pt x="5577839" y="576468"/>
                  </a:lnTo>
                  <a:lnTo>
                    <a:pt x="557783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5001" y="1468431"/>
              <a:ext cx="5577840" cy="576580"/>
            </a:xfrm>
            <a:custGeom>
              <a:avLst/>
              <a:gdLst/>
              <a:ahLst/>
              <a:cxnLst/>
              <a:rect l="l" t="t" r="r" b="b"/>
              <a:pathLst>
                <a:path w="5577840" h="576580">
                  <a:moveTo>
                    <a:pt x="0" y="0"/>
                  </a:moveTo>
                  <a:lnTo>
                    <a:pt x="5577840" y="0"/>
                  </a:lnTo>
                  <a:lnTo>
                    <a:pt x="557784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09288" y="1580388"/>
            <a:ext cx="55492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Scoring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80713" y="3955301"/>
            <a:ext cx="5606415" cy="605155"/>
            <a:chOff x="180713" y="3955301"/>
            <a:chExt cx="5606415" cy="605155"/>
          </a:xfrm>
        </p:grpSpPr>
        <p:sp>
          <p:nvSpPr>
            <p:cNvPr id="10" name="object 10" descr=""/>
            <p:cNvSpPr/>
            <p:nvPr/>
          </p:nvSpPr>
          <p:spPr>
            <a:xfrm>
              <a:off x="195001" y="3969589"/>
              <a:ext cx="5577840" cy="576580"/>
            </a:xfrm>
            <a:custGeom>
              <a:avLst/>
              <a:gdLst/>
              <a:ahLst/>
              <a:cxnLst/>
              <a:rect l="l" t="t" r="r" b="b"/>
              <a:pathLst>
                <a:path w="5577840" h="576579">
                  <a:moveTo>
                    <a:pt x="5577839" y="0"/>
                  </a:moveTo>
                  <a:lnTo>
                    <a:pt x="0" y="0"/>
                  </a:lnTo>
                  <a:lnTo>
                    <a:pt x="0" y="576468"/>
                  </a:lnTo>
                  <a:lnTo>
                    <a:pt x="5577839" y="576468"/>
                  </a:lnTo>
                  <a:lnTo>
                    <a:pt x="557783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95001" y="3969589"/>
              <a:ext cx="5577840" cy="576580"/>
            </a:xfrm>
            <a:custGeom>
              <a:avLst/>
              <a:gdLst/>
              <a:ahLst/>
              <a:cxnLst/>
              <a:rect l="l" t="t" r="r" b="b"/>
              <a:pathLst>
                <a:path w="5577840" h="576579">
                  <a:moveTo>
                    <a:pt x="0" y="0"/>
                  </a:moveTo>
                  <a:lnTo>
                    <a:pt x="5577840" y="0"/>
                  </a:lnTo>
                  <a:lnTo>
                    <a:pt x="557784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09288" y="4079748"/>
            <a:ext cx="55492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Bottom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Scoring</a:t>
            </a:r>
            <a:r>
              <a:rPr dirty="0" sz="20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Columns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94597" y="2221089"/>
            <a:ext cx="5356327" cy="3726757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6066948" y="1454143"/>
            <a:ext cx="5598160" cy="605155"/>
            <a:chOff x="6066948" y="1454143"/>
            <a:chExt cx="5598160" cy="605155"/>
          </a:xfrm>
        </p:grpSpPr>
        <p:sp>
          <p:nvSpPr>
            <p:cNvPr id="15" name="object 15" descr=""/>
            <p:cNvSpPr/>
            <p:nvPr/>
          </p:nvSpPr>
          <p:spPr>
            <a:xfrm>
              <a:off x="6081236" y="1468431"/>
              <a:ext cx="5569585" cy="576580"/>
            </a:xfrm>
            <a:custGeom>
              <a:avLst/>
              <a:gdLst/>
              <a:ahLst/>
              <a:cxnLst/>
              <a:rect l="l" t="t" r="r" b="b"/>
              <a:pathLst>
                <a:path w="5569584" h="576580">
                  <a:moveTo>
                    <a:pt x="5569471" y="0"/>
                  </a:moveTo>
                  <a:lnTo>
                    <a:pt x="0" y="0"/>
                  </a:lnTo>
                  <a:lnTo>
                    <a:pt x="0" y="576468"/>
                  </a:lnTo>
                  <a:lnTo>
                    <a:pt x="5569471" y="576468"/>
                  </a:lnTo>
                  <a:lnTo>
                    <a:pt x="5569471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081236" y="1468431"/>
              <a:ext cx="5569585" cy="576580"/>
            </a:xfrm>
            <a:custGeom>
              <a:avLst/>
              <a:gdLst/>
              <a:ahLst/>
              <a:cxnLst/>
              <a:rect l="l" t="t" r="r" b="b"/>
              <a:pathLst>
                <a:path w="5569584" h="576580">
                  <a:moveTo>
                    <a:pt x="0" y="0"/>
                  </a:moveTo>
                  <a:lnTo>
                    <a:pt x="5569472" y="0"/>
                  </a:lnTo>
                  <a:lnTo>
                    <a:pt x="5569472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095523" y="1580388"/>
            <a:ext cx="55410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Score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Sorted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Column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Index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dirty="0" spc="-80"/>
              <a:t> </a:t>
            </a:r>
            <a:r>
              <a:rPr dirty="0" spc="-10"/>
              <a:t>Product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1967" y="2168213"/>
            <a:ext cx="1937993" cy="397333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9246" y="2141664"/>
            <a:ext cx="1999941" cy="399988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23466" y="2394842"/>
            <a:ext cx="4949159" cy="3480291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584959" y="1342765"/>
            <a:ext cx="5218430" cy="605155"/>
            <a:chOff x="584959" y="1342765"/>
            <a:chExt cx="5218430" cy="605155"/>
          </a:xfrm>
        </p:grpSpPr>
        <p:sp>
          <p:nvSpPr>
            <p:cNvPr id="7" name="object 7" descr=""/>
            <p:cNvSpPr/>
            <p:nvPr/>
          </p:nvSpPr>
          <p:spPr>
            <a:xfrm>
              <a:off x="599246" y="1357053"/>
              <a:ext cx="5189855" cy="576580"/>
            </a:xfrm>
            <a:custGeom>
              <a:avLst/>
              <a:gdLst/>
              <a:ahLst/>
              <a:cxnLst/>
              <a:rect l="l" t="t" r="r" b="b"/>
              <a:pathLst>
                <a:path w="5189855" h="576580">
                  <a:moveTo>
                    <a:pt x="5189413" y="0"/>
                  </a:moveTo>
                  <a:lnTo>
                    <a:pt x="0" y="0"/>
                  </a:lnTo>
                  <a:lnTo>
                    <a:pt x="0" y="576468"/>
                  </a:lnTo>
                  <a:lnTo>
                    <a:pt x="5189413" y="576468"/>
                  </a:lnTo>
                  <a:lnTo>
                    <a:pt x="5189413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99246" y="1357053"/>
              <a:ext cx="5189855" cy="576580"/>
            </a:xfrm>
            <a:custGeom>
              <a:avLst/>
              <a:gdLst/>
              <a:ahLst/>
              <a:cxnLst/>
              <a:rect l="l" t="t" r="r" b="b"/>
              <a:pathLst>
                <a:path w="5189855" h="576580">
                  <a:moveTo>
                    <a:pt x="0" y="0"/>
                  </a:moveTo>
                  <a:lnTo>
                    <a:pt x="5189413" y="0"/>
                  </a:lnTo>
                  <a:lnTo>
                    <a:pt x="5189413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13534" y="1467611"/>
            <a:ext cx="51612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vs.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Least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Likely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Churn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389052" y="1342765"/>
            <a:ext cx="5218430" cy="605155"/>
            <a:chOff x="6389052" y="1342765"/>
            <a:chExt cx="5218430" cy="605155"/>
          </a:xfrm>
        </p:grpSpPr>
        <p:sp>
          <p:nvSpPr>
            <p:cNvPr id="11" name="object 11" descr=""/>
            <p:cNvSpPr/>
            <p:nvPr/>
          </p:nvSpPr>
          <p:spPr>
            <a:xfrm>
              <a:off x="6403340" y="1357053"/>
              <a:ext cx="5189855" cy="576580"/>
            </a:xfrm>
            <a:custGeom>
              <a:avLst/>
              <a:gdLst/>
              <a:ahLst/>
              <a:cxnLst/>
              <a:rect l="l" t="t" r="r" b="b"/>
              <a:pathLst>
                <a:path w="5189855" h="576580">
                  <a:moveTo>
                    <a:pt x="5189413" y="0"/>
                  </a:moveTo>
                  <a:lnTo>
                    <a:pt x="0" y="0"/>
                  </a:lnTo>
                  <a:lnTo>
                    <a:pt x="0" y="576468"/>
                  </a:lnTo>
                  <a:lnTo>
                    <a:pt x="5189413" y="576468"/>
                  </a:lnTo>
                  <a:lnTo>
                    <a:pt x="5189413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03340" y="1357053"/>
              <a:ext cx="5189855" cy="576580"/>
            </a:xfrm>
            <a:custGeom>
              <a:avLst/>
              <a:gdLst/>
              <a:ahLst/>
              <a:cxnLst/>
              <a:rect l="l" t="t" r="r" b="b"/>
              <a:pathLst>
                <a:path w="5189855" h="576580">
                  <a:moveTo>
                    <a:pt x="0" y="0"/>
                  </a:moveTo>
                  <a:lnTo>
                    <a:pt x="5189413" y="0"/>
                  </a:lnTo>
                  <a:lnTo>
                    <a:pt x="5189413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417627" y="1467611"/>
            <a:ext cx="51612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Churn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Fraction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Predictive</a:t>
            </a:r>
            <a:r>
              <a:rPr dirty="0" spc="-120"/>
              <a:t> </a:t>
            </a:r>
            <a:r>
              <a:rPr dirty="0"/>
              <a:t>Model</a:t>
            </a:r>
            <a:r>
              <a:rPr dirty="0" spc="-114"/>
              <a:t> </a:t>
            </a:r>
            <a:r>
              <a:rPr dirty="0" spc="-10"/>
              <a:t>Implementation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333" y="1245704"/>
            <a:ext cx="1956435" cy="1097280"/>
          </a:xfrm>
          <a:prstGeom prst="rect">
            <a:avLst/>
          </a:prstGeom>
          <a:solidFill>
            <a:srgbClr val="1F4E79"/>
          </a:solidFill>
          <a:ln w="28575">
            <a:solidFill>
              <a:srgbClr val="1F4E79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67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5635" y="1245704"/>
            <a:ext cx="9457055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endParaRPr sz="2000">
              <a:latin typeface="Times New Roman"/>
              <a:cs typeface="Times New Roman"/>
            </a:endParaRPr>
          </a:p>
          <a:p>
            <a:pPr marL="433705" indent="-342265">
              <a:lnSpc>
                <a:spcPct val="100000"/>
              </a:lnSpc>
              <a:buFont typeface="Wingdings"/>
              <a:buChar char=""/>
              <a:tabLst>
                <a:tab pos="433705" algn="l"/>
              </a:tabLst>
            </a:pPr>
            <a:r>
              <a:rPr dirty="0" sz="2000">
                <a:latin typeface="Calibri"/>
                <a:cs typeface="Calibri"/>
              </a:rPr>
              <a:t>Design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predicts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whether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household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churns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kept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6529" y="2643332"/>
            <a:ext cx="11420475" cy="605155"/>
            <a:chOff x="396529" y="2643332"/>
            <a:chExt cx="11420475" cy="605155"/>
          </a:xfrm>
        </p:grpSpPr>
        <p:sp>
          <p:nvSpPr>
            <p:cNvPr id="6" name="object 6" descr=""/>
            <p:cNvSpPr/>
            <p:nvPr/>
          </p:nvSpPr>
          <p:spPr>
            <a:xfrm>
              <a:off x="410817" y="2657619"/>
              <a:ext cx="11391900" cy="576580"/>
            </a:xfrm>
            <a:custGeom>
              <a:avLst/>
              <a:gdLst/>
              <a:ahLst/>
              <a:cxnLst/>
              <a:rect l="l" t="t" r="r" b="b"/>
              <a:pathLst>
                <a:path w="11391900" h="576580">
                  <a:moveTo>
                    <a:pt x="11391845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11391845" y="576469"/>
                  </a:lnTo>
                  <a:lnTo>
                    <a:pt x="11391845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0817" y="2657619"/>
              <a:ext cx="11391900" cy="576580"/>
            </a:xfrm>
            <a:custGeom>
              <a:avLst/>
              <a:gdLst/>
              <a:ahLst/>
              <a:cxnLst/>
              <a:rect l="l" t="t" r="r" b="b"/>
              <a:pathLst>
                <a:path w="11391900" h="576580">
                  <a:moveTo>
                    <a:pt x="0" y="0"/>
                  </a:moveTo>
                  <a:lnTo>
                    <a:pt x="11391846" y="0"/>
                  </a:lnTo>
                  <a:lnTo>
                    <a:pt x="11391846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425104" y="2769108"/>
            <a:ext cx="11363325" cy="2253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Notes</a:t>
            </a:r>
            <a:endParaRPr sz="2000">
              <a:latin typeface="Calibri"/>
              <a:cs typeface="Calibri"/>
            </a:endParaRPr>
          </a:p>
          <a:p>
            <a:pPr marL="419734" indent="-342900">
              <a:lnSpc>
                <a:spcPct val="100000"/>
              </a:lnSpc>
              <a:spcBef>
                <a:spcPts val="1945"/>
              </a:spcBef>
              <a:buFont typeface="Wingdings"/>
              <a:buChar char=""/>
              <a:tabLst>
                <a:tab pos="419734" algn="l"/>
              </a:tabLst>
            </a:pPr>
            <a:r>
              <a:rPr dirty="0" sz="2000">
                <a:latin typeface="Calibri"/>
                <a:cs typeface="Calibri"/>
              </a:rPr>
              <a:t>Nonlinear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complex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interaction</a:t>
            </a:r>
            <a:endParaRPr sz="2000">
              <a:latin typeface="Calibri"/>
              <a:cs typeface="Calibri"/>
            </a:endParaRPr>
          </a:p>
          <a:p>
            <a:pPr marL="419734" marR="450215" indent="-34290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419734" algn="l"/>
              </a:tabLst>
            </a:pP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“class_weight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=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‘balanced’”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accuracy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kept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households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churned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households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prioritized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equally</a:t>
            </a:r>
            <a:endParaRPr sz="2000">
              <a:latin typeface="Calibri"/>
              <a:cs typeface="Calibri"/>
            </a:endParaRPr>
          </a:p>
          <a:p>
            <a:pPr marL="419734" marR="99695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19734" algn="l"/>
              </a:tabLst>
            </a:pPr>
            <a:r>
              <a:rPr dirty="0" sz="2000">
                <a:latin typeface="Calibri"/>
                <a:cs typeface="Calibri"/>
              </a:rPr>
              <a:t>Since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fewer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churned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HH,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precision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suffers,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line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business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intuition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losing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expensive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cost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keep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churning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12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Churn</a:t>
            </a:r>
            <a:r>
              <a:rPr dirty="0" spc="-55"/>
              <a:t> </a:t>
            </a:r>
            <a:r>
              <a:rPr dirty="0"/>
              <a:t>Model</a:t>
            </a:r>
            <a:r>
              <a:rPr dirty="0" spc="-50"/>
              <a:t> </a:t>
            </a:r>
            <a:r>
              <a:rPr dirty="0" spc="-10"/>
              <a:t>Metrics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875400" y="6430771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98989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1946" y="5448300"/>
            <a:ext cx="10968355" cy="1244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7815" algn="l"/>
              </a:tabLst>
            </a:pPr>
            <a:r>
              <a:rPr dirty="0" sz="2000">
                <a:latin typeface="Calibri"/>
                <a:cs typeface="Calibri"/>
              </a:rPr>
              <a:t>Random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forest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“sqrt”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“all”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refers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checking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sqrt(features)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features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split</a:t>
            </a:r>
            <a:endParaRPr sz="20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"/>
              <a:tabLst>
                <a:tab pos="297815" algn="l"/>
              </a:tabLst>
            </a:pPr>
            <a:r>
              <a:rPr dirty="0" sz="2000" spc="-50">
                <a:latin typeface="Calibri"/>
                <a:cs typeface="Calibri"/>
              </a:rPr>
              <a:t>F.S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feature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selected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35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rows</a:t>
            </a:r>
            <a:endParaRPr sz="2000">
              <a:latin typeface="Calibri"/>
              <a:cs typeface="Calibri"/>
            </a:endParaRPr>
          </a:p>
          <a:p>
            <a:pPr marL="298450" marR="508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</a:tabLst>
            </a:pPr>
            <a:r>
              <a:rPr dirty="0" sz="2000">
                <a:latin typeface="Calibri"/>
                <a:cs typeface="Calibri"/>
              </a:rPr>
              <a:t>Logistic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regression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performance,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able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meaningful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significance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>
                <a:latin typeface="Calibri"/>
                <a:cs typeface="Calibri"/>
              </a:rPr>
              <a:t>out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82983" y="1333182"/>
          <a:ext cx="11371580" cy="4086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6010"/>
                <a:gridCol w="1571625"/>
                <a:gridCol w="1571624"/>
                <a:gridCol w="1501140"/>
                <a:gridCol w="1501140"/>
                <a:gridCol w="1501140"/>
              </a:tblGrid>
              <a:tr h="730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2620" marR="117475" indent="-517525">
                        <a:lnSpc>
                          <a:spcPts val="2110"/>
                        </a:lnSpc>
                        <a:spcBef>
                          <a:spcPts val="72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Accuracy-Kept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HH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170" marR="210185" indent="120650">
                        <a:lnSpc>
                          <a:spcPts val="2110"/>
                        </a:lnSpc>
                        <a:spcBef>
                          <a:spcPts val="7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Accuracy-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Churned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HH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Precision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Recall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F-score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Random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Forest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(sqrt)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0.867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0.94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0.656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0.94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0.773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Logistic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Regression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w/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L2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93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0.408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0.848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0.28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0.848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0.421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Random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Forest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(all)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0.792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0.991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0.564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0.991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0.719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800" spc="-30">
                          <a:latin typeface="Calibri"/>
                          <a:cs typeface="Calibri"/>
                        </a:rPr>
                        <a:t>F.S.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Random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Forest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(sqrt)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0.866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0.933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0.655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0.933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0.769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1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800" spc="-30">
                          <a:latin typeface="Calibri"/>
                          <a:cs typeface="Calibri"/>
                        </a:rPr>
                        <a:t>F.S.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Random</a:t>
                      </a:r>
                      <a:r>
                        <a:rPr dirty="0" sz="18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Forest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(all)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0.793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0.991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0.565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0.991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0.72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28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AdaBoost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0.988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0.92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0.954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0.92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0.936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4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dirty="0" sz="1800" spc="-30">
                          <a:latin typeface="Calibri"/>
                          <a:cs typeface="Calibri"/>
                        </a:rPr>
                        <a:t>F.S.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Adaboost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93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0.983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0.928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35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Business</a:t>
            </a:r>
            <a:r>
              <a:rPr dirty="0" spc="-105"/>
              <a:t> </a:t>
            </a:r>
            <a:r>
              <a:rPr dirty="0" spc="-10"/>
              <a:t>Recommendation:</a:t>
            </a:r>
            <a:r>
              <a:rPr dirty="0" spc="-100"/>
              <a:t> </a:t>
            </a:r>
            <a:r>
              <a:rPr dirty="0"/>
              <a:t>Utilize</a:t>
            </a:r>
            <a:r>
              <a:rPr dirty="0" spc="-105"/>
              <a:t> </a:t>
            </a:r>
            <a:r>
              <a:rPr dirty="0"/>
              <a:t>Predictive</a:t>
            </a:r>
            <a:r>
              <a:rPr dirty="0" spc="-105"/>
              <a:t> </a:t>
            </a:r>
            <a:r>
              <a:rPr dirty="0" spc="-10"/>
              <a:t>Variables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88101" y="2562904"/>
            <a:ext cx="3228975" cy="605155"/>
            <a:chOff x="388101" y="2562904"/>
            <a:chExt cx="3228975" cy="605155"/>
          </a:xfrm>
        </p:grpSpPr>
        <p:sp>
          <p:nvSpPr>
            <p:cNvPr id="4" name="object 4" descr=""/>
            <p:cNvSpPr/>
            <p:nvPr/>
          </p:nvSpPr>
          <p:spPr>
            <a:xfrm>
              <a:off x="402388" y="2577191"/>
              <a:ext cx="3200400" cy="576580"/>
            </a:xfrm>
            <a:custGeom>
              <a:avLst/>
              <a:gdLst/>
              <a:ahLst/>
              <a:cxnLst/>
              <a:rect l="l" t="t" r="r" b="b"/>
              <a:pathLst>
                <a:path w="3200400" h="576580">
                  <a:moveTo>
                    <a:pt x="3200400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3200400" y="576469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2388" y="2577191"/>
              <a:ext cx="3200400" cy="576580"/>
            </a:xfrm>
            <a:custGeom>
              <a:avLst/>
              <a:gdLst/>
              <a:ahLst/>
              <a:cxnLst/>
              <a:rect l="l" t="t" r="r" b="b"/>
              <a:pathLst>
                <a:path w="3200400" h="576580">
                  <a:moveTo>
                    <a:pt x="0" y="0"/>
                  </a:moveTo>
                  <a:lnTo>
                    <a:pt x="3200400" y="0"/>
                  </a:lnTo>
                  <a:lnTo>
                    <a:pt x="320040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4483825" y="2562904"/>
            <a:ext cx="3228975" cy="605155"/>
            <a:chOff x="4483825" y="2562904"/>
            <a:chExt cx="3228975" cy="605155"/>
          </a:xfrm>
        </p:grpSpPr>
        <p:sp>
          <p:nvSpPr>
            <p:cNvPr id="7" name="object 7" descr=""/>
            <p:cNvSpPr/>
            <p:nvPr/>
          </p:nvSpPr>
          <p:spPr>
            <a:xfrm>
              <a:off x="4498112" y="2577191"/>
              <a:ext cx="3200400" cy="576580"/>
            </a:xfrm>
            <a:custGeom>
              <a:avLst/>
              <a:gdLst/>
              <a:ahLst/>
              <a:cxnLst/>
              <a:rect l="l" t="t" r="r" b="b"/>
              <a:pathLst>
                <a:path w="3200400" h="576580">
                  <a:moveTo>
                    <a:pt x="3200400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3200400" y="576469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498112" y="2577191"/>
              <a:ext cx="3200400" cy="576580"/>
            </a:xfrm>
            <a:custGeom>
              <a:avLst/>
              <a:gdLst/>
              <a:ahLst/>
              <a:cxnLst/>
              <a:rect l="l" t="t" r="r" b="b"/>
              <a:pathLst>
                <a:path w="3200400" h="576580">
                  <a:moveTo>
                    <a:pt x="0" y="0"/>
                  </a:moveTo>
                  <a:lnTo>
                    <a:pt x="3200400" y="0"/>
                  </a:lnTo>
                  <a:lnTo>
                    <a:pt x="320040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8579548" y="2562904"/>
            <a:ext cx="3228975" cy="605155"/>
            <a:chOff x="8579548" y="2562904"/>
            <a:chExt cx="3228975" cy="605155"/>
          </a:xfrm>
        </p:grpSpPr>
        <p:sp>
          <p:nvSpPr>
            <p:cNvPr id="10" name="object 10" descr=""/>
            <p:cNvSpPr/>
            <p:nvPr/>
          </p:nvSpPr>
          <p:spPr>
            <a:xfrm>
              <a:off x="8593835" y="2577191"/>
              <a:ext cx="3200400" cy="576580"/>
            </a:xfrm>
            <a:custGeom>
              <a:avLst/>
              <a:gdLst/>
              <a:ahLst/>
              <a:cxnLst/>
              <a:rect l="l" t="t" r="r" b="b"/>
              <a:pathLst>
                <a:path w="3200400" h="576580">
                  <a:moveTo>
                    <a:pt x="3200400" y="0"/>
                  </a:moveTo>
                  <a:lnTo>
                    <a:pt x="0" y="0"/>
                  </a:lnTo>
                  <a:lnTo>
                    <a:pt x="0" y="576469"/>
                  </a:lnTo>
                  <a:lnTo>
                    <a:pt x="3200400" y="576469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593835" y="2577191"/>
              <a:ext cx="3200400" cy="576580"/>
            </a:xfrm>
            <a:custGeom>
              <a:avLst/>
              <a:gdLst/>
              <a:ahLst/>
              <a:cxnLst/>
              <a:rect l="l" t="t" r="r" b="b"/>
              <a:pathLst>
                <a:path w="3200400" h="576580">
                  <a:moveTo>
                    <a:pt x="0" y="0"/>
                  </a:moveTo>
                  <a:lnTo>
                    <a:pt x="3200400" y="0"/>
                  </a:lnTo>
                  <a:lnTo>
                    <a:pt x="3200400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16676" y="2686811"/>
            <a:ext cx="113633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80440">
              <a:lnSpc>
                <a:spcPct val="100000"/>
              </a:lnSpc>
              <a:spcBef>
                <a:spcPts val="100"/>
              </a:spcBef>
              <a:tabLst>
                <a:tab pos="5316220" algn="l"/>
                <a:tab pos="9269095" algn="l"/>
              </a:tabLst>
            </a:pP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Understand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Predict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Strategize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4040516" y="2577191"/>
            <a:ext cx="0" cy="3138805"/>
          </a:xfrm>
          <a:custGeom>
            <a:avLst/>
            <a:gdLst/>
            <a:ahLst/>
            <a:cxnLst/>
            <a:rect l="l" t="t" r="r" b="b"/>
            <a:pathLst>
              <a:path w="0" h="3138804">
                <a:moveTo>
                  <a:pt x="0" y="3138768"/>
                </a:moveTo>
                <a:lnTo>
                  <a:pt x="1" y="0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138374" y="2577191"/>
            <a:ext cx="0" cy="3138805"/>
          </a:xfrm>
          <a:custGeom>
            <a:avLst/>
            <a:gdLst/>
            <a:ahLst/>
            <a:cxnLst/>
            <a:rect l="l" t="t" r="r" b="b"/>
            <a:pathLst>
              <a:path w="0" h="3138804">
                <a:moveTo>
                  <a:pt x="0" y="3138768"/>
                </a:moveTo>
                <a:lnTo>
                  <a:pt x="1" y="0"/>
                </a:lnTo>
              </a:path>
            </a:pathLst>
          </a:custGeom>
          <a:ln w="12700">
            <a:solidFill>
              <a:srgbClr val="BFBFB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02389" y="3488272"/>
            <a:ext cx="3200400" cy="205740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194945" rIns="0" bIns="0" rtlCol="0" vert="horz">
            <a:spAutoFit/>
          </a:bodyPr>
          <a:lstStyle/>
          <a:p>
            <a:pPr marL="377190" marR="113030" indent="-285750">
              <a:lnSpc>
                <a:spcPct val="99400"/>
              </a:lnSpc>
              <a:spcBef>
                <a:spcPts val="1535"/>
              </a:spcBef>
              <a:buFont typeface="Arial MT"/>
              <a:buChar char="•"/>
              <a:tabLst>
                <a:tab pos="377190" algn="l"/>
              </a:tabLst>
            </a:pPr>
            <a:r>
              <a:rPr dirty="0" sz="1800">
                <a:latin typeface="Calibri"/>
                <a:cs typeface="Calibri"/>
              </a:rPr>
              <a:t>Examine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intuition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starting </a:t>
            </a:r>
            <a:r>
              <a:rPr dirty="0" sz="1800">
                <a:latin typeface="Calibri"/>
                <a:cs typeface="Calibri"/>
              </a:rPr>
              <a:t>product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high- </a:t>
            </a:r>
            <a:r>
              <a:rPr dirty="0" sz="1800">
                <a:latin typeface="Calibri"/>
                <a:cs typeface="Calibri"/>
              </a:rPr>
              <a:t>scoring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variables</a:t>
            </a:r>
            <a:endParaRPr sz="1800">
              <a:latin typeface="Calibri"/>
              <a:cs typeface="Calibri"/>
            </a:endParaRPr>
          </a:p>
          <a:p>
            <a:pPr marL="377190" marR="335280" indent="-285750">
              <a:lnSpc>
                <a:spcPct val="99400"/>
              </a:lnSpc>
              <a:spcBef>
                <a:spcPts val="65"/>
              </a:spcBef>
              <a:buFont typeface="Arial MT"/>
              <a:buChar char="•"/>
              <a:tabLst>
                <a:tab pos="377190" algn="l"/>
              </a:tabLst>
            </a:pPr>
            <a:r>
              <a:rPr dirty="0" sz="1800">
                <a:latin typeface="Calibri"/>
                <a:cs typeface="Calibri"/>
              </a:rPr>
              <a:t>Improve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tracking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include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customers </a:t>
            </a:r>
            <a:r>
              <a:rPr dirty="0" sz="1800">
                <a:latin typeface="Calibri"/>
                <a:cs typeface="Calibri"/>
              </a:rPr>
              <a:t>product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profile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16" name="object 16" descr=""/>
          <p:cNvSpPr txBox="1"/>
          <p:nvPr/>
        </p:nvSpPr>
        <p:spPr>
          <a:xfrm>
            <a:off x="4498113" y="3488270"/>
            <a:ext cx="3200400" cy="205740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endParaRPr sz="1800">
              <a:latin typeface="Times New Roman"/>
              <a:cs typeface="Times New Roman"/>
            </a:endParaRPr>
          </a:p>
          <a:p>
            <a:pPr marL="376555" marR="116205" indent="-285750">
              <a:lnSpc>
                <a:spcPts val="2090"/>
              </a:lnSpc>
              <a:buFont typeface="Arial MT"/>
              <a:buChar char="•"/>
              <a:tabLst>
                <a:tab pos="376555" algn="l"/>
              </a:tabLst>
            </a:pPr>
            <a:r>
              <a:rPr dirty="0" sz="1800">
                <a:latin typeface="Calibri"/>
                <a:cs typeface="Calibri"/>
              </a:rPr>
              <a:t>Ensure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robust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enough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draw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conclusions</a:t>
            </a:r>
            <a:endParaRPr sz="1800">
              <a:latin typeface="Calibri"/>
              <a:cs typeface="Calibri"/>
            </a:endParaRPr>
          </a:p>
          <a:p>
            <a:pPr marL="376555" marR="305435" indent="-285750">
              <a:lnSpc>
                <a:spcPct val="99400"/>
              </a:lnSpc>
              <a:spcBef>
                <a:spcPts val="5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800">
                <a:latin typeface="Calibri"/>
                <a:cs typeface="Calibri"/>
              </a:rPr>
              <a:t>Use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nonlinear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predict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whether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customers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likely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churn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602266" y="3488270"/>
            <a:ext cx="3200400" cy="2057400"/>
          </a:xfrm>
          <a:prstGeom prst="rect">
            <a:avLst/>
          </a:prstGeom>
          <a:solidFill>
            <a:srgbClr val="DEEBF7"/>
          </a:solidFill>
          <a:ln w="28575">
            <a:solidFill>
              <a:srgbClr val="1F4E79"/>
            </a:solidFill>
          </a:ln>
        </p:spPr>
        <p:txBody>
          <a:bodyPr wrap="square" lIns="0" tIns="838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endParaRPr sz="1800">
              <a:latin typeface="Times New Roman"/>
              <a:cs typeface="Times New Roman"/>
            </a:endParaRPr>
          </a:p>
          <a:p>
            <a:pPr marL="376555" marR="414020" indent="-285750">
              <a:lnSpc>
                <a:spcPts val="2090"/>
              </a:lnSpc>
              <a:buFont typeface="Arial MT"/>
              <a:buChar char="•"/>
              <a:tabLst>
                <a:tab pos="376555" algn="l"/>
              </a:tabLst>
            </a:pPr>
            <a:r>
              <a:rPr dirty="0" sz="1800" spc="-10">
                <a:latin typeface="Calibri"/>
                <a:cs typeface="Calibri"/>
              </a:rPr>
              <a:t>Reconsider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profitability</a:t>
            </a:r>
            <a:r>
              <a:rPr dirty="0" sz="180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high-</a:t>
            </a:r>
            <a:r>
              <a:rPr dirty="0" sz="1800">
                <a:latin typeface="Calibri"/>
                <a:cs typeface="Calibri"/>
              </a:rPr>
              <a:t>churn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products</a:t>
            </a:r>
            <a:endParaRPr sz="1800">
              <a:latin typeface="Calibri"/>
              <a:cs typeface="Calibri"/>
            </a:endParaRPr>
          </a:p>
          <a:p>
            <a:pPr marL="376555" marR="327660" indent="-285750">
              <a:lnSpc>
                <a:spcPct val="99400"/>
              </a:lnSpc>
              <a:spcBef>
                <a:spcPts val="5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800" spc="-10">
                <a:latin typeface="Calibri"/>
                <a:cs typeface="Calibri"/>
              </a:rPr>
              <a:t>Encourage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customers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switch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add</a:t>
            </a:r>
            <a:r>
              <a:rPr dirty="0" sz="1800" spc="-25">
                <a:latin typeface="Calibri"/>
                <a:cs typeface="Calibri"/>
              </a:rPr>
              <a:t> low-</a:t>
            </a:r>
            <a:r>
              <a:rPr dirty="0" sz="1800" spc="-20">
                <a:latin typeface="Calibri"/>
                <a:cs typeface="Calibri"/>
              </a:rPr>
              <a:t>churn </a:t>
            </a:r>
            <a:r>
              <a:rPr dirty="0" sz="1800" spc="-10">
                <a:latin typeface="Calibri"/>
                <a:cs typeface="Calibri"/>
              </a:rPr>
              <a:t>products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9333" y="1245704"/>
            <a:ext cx="1956435" cy="1097280"/>
          </a:xfrm>
          <a:prstGeom prst="rect">
            <a:avLst/>
          </a:prstGeom>
          <a:solidFill>
            <a:srgbClr val="1F4E79"/>
          </a:solidFill>
          <a:ln w="28575">
            <a:solidFill>
              <a:srgbClr val="1F4E79"/>
            </a:solidFill>
          </a:ln>
        </p:spPr>
        <p:txBody>
          <a:bodyPr wrap="square" lIns="0" tIns="33909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670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345635" y="1245704"/>
            <a:ext cx="9457055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231140" rIns="0" bIns="0" rtlCol="0" vert="horz">
            <a:spAutoFit/>
          </a:bodyPr>
          <a:lstStyle/>
          <a:p>
            <a:pPr marL="434340" marR="328295" indent="-342900">
              <a:lnSpc>
                <a:spcPct val="100000"/>
              </a:lnSpc>
              <a:spcBef>
                <a:spcPts val="1820"/>
              </a:spcBef>
              <a:buFont typeface="Wingdings"/>
              <a:buChar char=""/>
              <a:tabLst>
                <a:tab pos="434340" algn="l"/>
              </a:tabLst>
            </a:pP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variables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predictive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churn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insights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strategies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personalized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customer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9333" y="1423504"/>
            <a:ext cx="1955800" cy="1097280"/>
          </a:xfrm>
          <a:prstGeom prst="rect">
            <a:avLst/>
          </a:prstGeom>
          <a:solidFill>
            <a:srgbClr val="1F4E79"/>
          </a:solidFill>
          <a:ln w="29856">
            <a:solidFill>
              <a:srgbClr val="1F4E79"/>
            </a:solidFill>
          </a:ln>
        </p:spPr>
        <p:txBody>
          <a:bodyPr wrap="square" lIns="0" tIns="340995" rIns="0" bIns="0" rtlCol="0" vert="horz">
            <a:spAutoFit/>
          </a:bodyPr>
          <a:lstStyle/>
          <a:p>
            <a:pPr marL="634365">
              <a:lnSpc>
                <a:spcPct val="100000"/>
              </a:lnSpc>
              <a:spcBef>
                <a:spcPts val="2685"/>
              </a:spcBef>
            </a:pP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Goals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44994" y="1423504"/>
            <a:ext cx="9456420" cy="1097280"/>
          </a:xfrm>
          <a:prstGeom prst="rect">
            <a:avLst/>
          </a:prstGeom>
          <a:ln w="28575">
            <a:solidFill>
              <a:srgbClr val="1F4E79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433070" indent="-342900">
              <a:lnSpc>
                <a:spcPct val="100000"/>
              </a:lnSpc>
              <a:spcBef>
                <a:spcPts val="615"/>
              </a:spcBef>
              <a:buFont typeface="Wingdings"/>
              <a:buChar char=""/>
              <a:tabLst>
                <a:tab pos="433070" algn="l"/>
              </a:tabLst>
            </a:pP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consumer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dataset</a:t>
            </a:r>
            <a:endParaRPr sz="2000">
              <a:latin typeface="Calibri"/>
              <a:cs typeface="Calibri"/>
            </a:endParaRPr>
          </a:p>
          <a:p>
            <a:pPr marL="433070" indent="-342900">
              <a:lnSpc>
                <a:spcPct val="100000"/>
              </a:lnSpc>
              <a:buFont typeface="Wingdings"/>
              <a:buChar char=""/>
              <a:tabLst>
                <a:tab pos="433070" algn="l"/>
              </a:tabLst>
            </a:pPr>
            <a:r>
              <a:rPr dirty="0" sz="2000">
                <a:latin typeface="Calibri"/>
                <a:cs typeface="Calibri"/>
              </a:rPr>
              <a:t>Segment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Fulton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Bank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base</a:t>
            </a:r>
            <a:endParaRPr sz="2000">
              <a:latin typeface="Calibri"/>
              <a:cs typeface="Calibri"/>
            </a:endParaRPr>
          </a:p>
          <a:p>
            <a:pPr marL="433070" indent="-342900">
              <a:lnSpc>
                <a:spcPct val="100000"/>
              </a:lnSpc>
              <a:buFont typeface="Wingdings"/>
              <a:buChar char=""/>
              <a:tabLst>
                <a:tab pos="433070" algn="l"/>
              </a:tabLst>
            </a:pPr>
            <a:r>
              <a:rPr dirty="0" sz="2000">
                <a:latin typeface="Calibri"/>
                <a:cs typeface="Calibri"/>
              </a:rPr>
              <a:t>Build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predicts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churn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96528" y="2765507"/>
            <a:ext cx="11419205" cy="605155"/>
            <a:chOff x="396528" y="2765507"/>
            <a:chExt cx="11419205" cy="605155"/>
          </a:xfrm>
        </p:grpSpPr>
        <p:sp>
          <p:nvSpPr>
            <p:cNvPr id="6" name="object 6" descr=""/>
            <p:cNvSpPr/>
            <p:nvPr/>
          </p:nvSpPr>
          <p:spPr>
            <a:xfrm>
              <a:off x="410816" y="2779795"/>
              <a:ext cx="11390630" cy="576580"/>
            </a:xfrm>
            <a:custGeom>
              <a:avLst/>
              <a:gdLst/>
              <a:ahLst/>
              <a:cxnLst/>
              <a:rect l="l" t="t" r="r" b="b"/>
              <a:pathLst>
                <a:path w="11390630" h="576579">
                  <a:moveTo>
                    <a:pt x="11390566" y="0"/>
                  </a:moveTo>
                  <a:lnTo>
                    <a:pt x="0" y="0"/>
                  </a:lnTo>
                  <a:lnTo>
                    <a:pt x="0" y="576468"/>
                  </a:lnTo>
                  <a:lnTo>
                    <a:pt x="11390566" y="576468"/>
                  </a:lnTo>
                  <a:lnTo>
                    <a:pt x="11390566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0816" y="2779795"/>
              <a:ext cx="11390630" cy="576580"/>
            </a:xfrm>
            <a:custGeom>
              <a:avLst/>
              <a:gdLst/>
              <a:ahLst/>
              <a:cxnLst/>
              <a:rect l="l" t="t" r="r" b="b"/>
              <a:pathLst>
                <a:path w="11390630" h="576579">
                  <a:moveTo>
                    <a:pt x="0" y="0"/>
                  </a:moveTo>
                  <a:lnTo>
                    <a:pt x="11390567" y="0"/>
                  </a:lnTo>
                  <a:lnTo>
                    <a:pt x="11390567" y="576469"/>
                  </a:lnTo>
                  <a:lnTo>
                    <a:pt x="0" y="5764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90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Recommendations</a:t>
            </a:r>
          </a:p>
          <a:p>
            <a:pPr marL="19685">
              <a:lnSpc>
                <a:spcPct val="100000"/>
              </a:lnSpc>
              <a:spcBef>
                <a:spcPts val="555"/>
              </a:spcBef>
            </a:pPr>
          </a:p>
          <a:p>
            <a:pPr marL="439420" indent="-342900">
              <a:lnSpc>
                <a:spcPct val="100000"/>
              </a:lnSpc>
              <a:buFont typeface="Wingdings"/>
              <a:buChar char=""/>
              <a:tabLst>
                <a:tab pos="440055" algn="l"/>
              </a:tabLst>
            </a:pPr>
            <a:r>
              <a:rPr dirty="0" b="1">
                <a:solidFill>
                  <a:srgbClr val="000000"/>
                </a:solidFill>
                <a:latin typeface="Calibri"/>
                <a:cs typeface="Calibri"/>
              </a:rPr>
              <a:t>Customer</a:t>
            </a:r>
            <a:r>
              <a:rPr dirty="0" spc="-10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0000"/>
                </a:solidFill>
                <a:latin typeface="Calibri"/>
                <a:cs typeface="Calibri"/>
              </a:rPr>
              <a:t>segmentation</a:t>
            </a:r>
          </a:p>
          <a:p>
            <a:pPr lvl="1" marL="896619" marR="863600" indent="-342900">
              <a:lnSpc>
                <a:spcPct val="100000"/>
              </a:lnSpc>
              <a:buFont typeface="Wingdings"/>
              <a:buChar char=""/>
              <a:tabLst>
                <a:tab pos="897255" algn="l"/>
              </a:tabLst>
            </a:pP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characteristics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segment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customers,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allowing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easier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acquisition,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servicing, relationship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development,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retention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customers</a:t>
            </a:r>
            <a:endParaRPr sz="2000">
              <a:latin typeface="Calibri"/>
              <a:cs typeface="Calibri"/>
            </a:endParaRPr>
          </a:p>
          <a:p>
            <a:pPr marL="439420" indent="-342900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440055" algn="l"/>
              </a:tabLst>
            </a:pPr>
            <a:r>
              <a:rPr dirty="0" spc="-10" b="1">
                <a:solidFill>
                  <a:srgbClr val="000000"/>
                </a:solidFill>
                <a:latin typeface="Calibri"/>
                <a:cs typeface="Calibri"/>
              </a:rPr>
              <a:t>Predictive</a:t>
            </a:r>
            <a:r>
              <a:rPr dirty="0" spc="-20" b="1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000000"/>
                </a:solidFill>
                <a:latin typeface="Calibri"/>
                <a:cs typeface="Calibri"/>
              </a:rPr>
              <a:t>model</a:t>
            </a:r>
          </a:p>
          <a:p>
            <a:pPr lvl="1" marL="896619" indent="-342900">
              <a:lnSpc>
                <a:spcPct val="100000"/>
              </a:lnSpc>
              <a:buFont typeface="Wingdings"/>
              <a:buChar char=""/>
              <a:tabLst>
                <a:tab pos="897255" algn="l"/>
              </a:tabLst>
            </a:pPr>
            <a:r>
              <a:rPr dirty="0" sz="2000">
                <a:latin typeface="Calibri"/>
                <a:cs typeface="Calibri"/>
              </a:rPr>
              <a:t>Predict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likelihood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churn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individual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customer</a:t>
            </a:r>
            <a:endParaRPr sz="2000">
              <a:latin typeface="Calibri"/>
              <a:cs typeface="Calibri"/>
            </a:endParaRPr>
          </a:p>
          <a:p>
            <a:pPr lvl="1" marL="896619" indent="-342900">
              <a:lnSpc>
                <a:spcPct val="100000"/>
              </a:lnSpc>
              <a:buFont typeface="Wingdings"/>
              <a:buChar char=""/>
              <a:tabLst>
                <a:tab pos="897255" algn="l"/>
              </a:tabLst>
            </a:pPr>
            <a:r>
              <a:rPr dirty="0" sz="2000" spc="-10">
                <a:latin typeface="Calibri"/>
                <a:cs typeface="Calibri"/>
              </a:rPr>
              <a:t>Formulate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strategies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trait’s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association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churn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2026-03-02T11:22:59Z</dcterms:created>
  <dcterms:modified xsi:type="dcterms:W3CDTF">2026-03-02T11:22:59Z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2021-03-01T00:00:00Z</vt:filetime>
  </property>
  <property fmtid="{D5CDD505-2E9C-101B-9397-08002B2CF9AE}" pid="3" name="LastSaved">
    <vt:filetime>2026-03-02T00:00:00Z</vt:filetime>
  </property>
  <property fmtid="{D5CDD505-2E9C-101B-9397-08002B2CF9AE}" pid="4" name="Producer">
    <vt:lpwstr>macOS Version 11.1 (Build 20C69) Quartz PDFContext</vt:lpwstr>
  </property>
</Properties>
</file>